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73" r:id="rId3"/>
    <p:sldId id="276" r:id="rId4"/>
    <p:sldId id="258" r:id="rId5"/>
    <p:sldId id="274" r:id="rId6"/>
    <p:sldId id="257" r:id="rId7"/>
    <p:sldId id="275" r:id="rId8"/>
    <p:sldId id="277" r:id="rId9"/>
    <p:sldId id="278" r:id="rId10"/>
    <p:sldId id="259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F3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92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: фигура 10">
            <a:extLst>
              <a:ext uri="{FF2B5EF4-FFF2-40B4-BE49-F238E27FC236}">
                <a16:creationId xmlns:a16="http://schemas.microsoft.com/office/drawing/2014/main" id="{602835A8-8213-408B-8EDC-A72F4FCC61E6}"/>
              </a:ext>
            </a:extLst>
          </p:cNvPr>
          <p:cNvSpPr/>
          <p:nvPr userDrawn="1"/>
        </p:nvSpPr>
        <p:spPr>
          <a:xfrm rot="10800000">
            <a:off x="181661" y="60960"/>
            <a:ext cx="7082057" cy="6918960"/>
          </a:xfrm>
          <a:custGeom>
            <a:avLst/>
            <a:gdLst>
              <a:gd name="connsiteX0" fmla="*/ 3291840 w 7604760"/>
              <a:gd name="connsiteY0" fmla="*/ 6888480 h 6918960"/>
              <a:gd name="connsiteX1" fmla="*/ 0 w 7604760"/>
              <a:gd name="connsiteY1" fmla="*/ 0 h 6918960"/>
              <a:gd name="connsiteX2" fmla="*/ 7589520 w 7604760"/>
              <a:gd name="connsiteY2" fmla="*/ 0 h 6918960"/>
              <a:gd name="connsiteX3" fmla="*/ 7604760 w 7604760"/>
              <a:gd name="connsiteY3" fmla="*/ 6918960 h 6918960"/>
              <a:gd name="connsiteX4" fmla="*/ 3291840 w 7604760"/>
              <a:gd name="connsiteY4" fmla="*/ 6888480 h 6918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4760" h="6918960">
                <a:moveTo>
                  <a:pt x="3291840" y="6888480"/>
                </a:moveTo>
                <a:lnTo>
                  <a:pt x="0" y="0"/>
                </a:lnTo>
                <a:lnTo>
                  <a:pt x="7589520" y="0"/>
                </a:lnTo>
                <a:lnTo>
                  <a:pt x="7604760" y="6918960"/>
                </a:lnTo>
                <a:lnTo>
                  <a:pt x="3291840" y="6888480"/>
                </a:lnTo>
                <a:close/>
              </a:path>
            </a:pathLst>
          </a:custGeom>
          <a:solidFill>
            <a:srgbClr val="E9F3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олилиния: фигура 9">
            <a:extLst>
              <a:ext uri="{FF2B5EF4-FFF2-40B4-BE49-F238E27FC236}">
                <a16:creationId xmlns:a16="http://schemas.microsoft.com/office/drawing/2014/main" id="{B0408540-DEE2-44E0-B4A0-1EDEF9C268C5}"/>
              </a:ext>
            </a:extLst>
          </p:cNvPr>
          <p:cNvSpPr/>
          <p:nvPr userDrawn="1"/>
        </p:nvSpPr>
        <p:spPr>
          <a:xfrm rot="10800000">
            <a:off x="0" y="-68293"/>
            <a:ext cx="7101840" cy="6918960"/>
          </a:xfrm>
          <a:custGeom>
            <a:avLst/>
            <a:gdLst>
              <a:gd name="connsiteX0" fmla="*/ 3291840 w 7604760"/>
              <a:gd name="connsiteY0" fmla="*/ 6888480 h 6918960"/>
              <a:gd name="connsiteX1" fmla="*/ 0 w 7604760"/>
              <a:gd name="connsiteY1" fmla="*/ 0 h 6918960"/>
              <a:gd name="connsiteX2" fmla="*/ 7589520 w 7604760"/>
              <a:gd name="connsiteY2" fmla="*/ 0 h 6918960"/>
              <a:gd name="connsiteX3" fmla="*/ 7604760 w 7604760"/>
              <a:gd name="connsiteY3" fmla="*/ 6918960 h 6918960"/>
              <a:gd name="connsiteX4" fmla="*/ 3291840 w 7604760"/>
              <a:gd name="connsiteY4" fmla="*/ 6888480 h 6918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4760" h="6918960">
                <a:moveTo>
                  <a:pt x="3291840" y="6888480"/>
                </a:moveTo>
                <a:lnTo>
                  <a:pt x="0" y="0"/>
                </a:lnTo>
                <a:lnTo>
                  <a:pt x="7589520" y="0"/>
                </a:lnTo>
                <a:lnTo>
                  <a:pt x="7604760" y="6918960"/>
                </a:lnTo>
                <a:lnTo>
                  <a:pt x="3291840" y="688848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41F44C-2DFA-4F63-8DEC-93DEBA35E6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07" y="2158922"/>
            <a:ext cx="5643013" cy="2387600"/>
          </a:xfr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5347CC9-32A9-49AF-8330-C2F8CDD184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660" y="4597877"/>
            <a:ext cx="6234546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D2A1A3-DA54-45B3-9D3A-71FBEAADD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3D6D-B350-427B-878A-4910362B187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36C043-76D4-4AAD-A662-8DDE41183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73C1E8-63F0-47FA-83DB-E3448EA6E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E1F80-F085-49A4-9DC6-2D6C7B75839B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971203A-E8A7-43A0-A2DA-E17767C2A6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073379"/>
            <a:ext cx="7528560" cy="5777289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536970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07117C-C22F-48BC-8CDF-8AE0BEB1A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770120" cy="1325563"/>
          </a:xfrm>
        </p:spPr>
        <p:txBody>
          <a:bodyPr/>
          <a:lstStyle>
            <a:lvl1pPr>
              <a:defRPr b="1">
                <a:solidFill>
                  <a:schemeClr val="accent3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813700-EC71-4535-A21E-7794D99B0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70120" cy="4351338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12FA0E-4C5A-4B51-88A1-03D4C32DC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3D6D-B350-427B-878A-4910362B187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A9AF5A-1881-4FE9-BBFD-8383B696C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09088F-3AA3-4E17-AF0C-340C9167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E1F80-F085-49A4-9DC6-2D6C7B75839B}" type="slidenum">
              <a:rPr lang="ru-RU" smtClean="0"/>
              <a:t>‹#›</a:t>
            </a:fld>
            <a:endParaRPr lang="ru-RU"/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66F7C99C-298B-4670-BDC2-36621277BF3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65926" y="365125"/>
            <a:ext cx="4770437" cy="5991225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097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37C064-009B-4AC8-8126-15CDEDF92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3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0198AC2-43B1-466A-A8A6-77F7FF3D4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CA8C3D6D-B350-427B-878A-4910362B1874}" type="datetimeFigureOut">
              <a:rPr lang="ru-RU" smtClean="0"/>
              <a:pPr/>
              <a:t>18.05.2026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CAFBC65-B719-4992-B5D0-EF8A814E2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64197FE-0780-4EAE-9FD4-182925743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B8EE1F80-F085-49A4-9DC6-2D6C7B75839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B84954EC-5744-4B9D-83CB-B15137F0DA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89125"/>
            <a:ext cx="10515600" cy="4298950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925842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37C064-009B-4AC8-8126-15CDEDF92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3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0198AC2-43B1-466A-A8A6-77F7FF3D4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CA8C3D6D-B350-427B-878A-4910362B1874}" type="datetimeFigureOut">
              <a:rPr lang="ru-RU" smtClean="0"/>
              <a:pPr/>
              <a:t>18.05.2026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CAFBC65-B719-4992-B5D0-EF8A814E2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64197FE-0780-4EAE-9FD4-182925743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B8EE1F80-F085-49A4-9DC6-2D6C7B75839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851A9067-1364-47A0-885A-9FB73E71416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2011363"/>
            <a:ext cx="10515600" cy="4191000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776634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BA3BD7-0B03-424C-92AC-B74985B75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A0A513F-B8C6-4CE7-B066-0B7D43CFB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B2FDDC-DB4B-40E5-B064-FA17C787A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3D6D-B350-427B-878A-4910362B187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3EAFBA-F44E-4494-921D-3351AE6B8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737912-87CA-4726-A7C2-E42884E9C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E1F80-F085-49A4-9DC6-2D6C7B7583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3434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95DBD3-F94A-48D8-A933-EBEB1BE19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1AB2D0-2FEF-46D4-A832-3954309227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A4C3226-C416-418E-9F60-79D278504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D5FEF07-1527-4A7D-AD51-B8B2BCBB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3D6D-B350-427B-878A-4910362B187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8E1577-AD06-469F-9E49-2D6923567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B65B2C3-641F-44AB-A4DB-9002DD806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E1F80-F085-49A4-9DC6-2D6C7B7583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457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B255C6-960F-4D83-A6E8-C0F214084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EFA5F0-CEF6-431E-BA7B-1A518E16E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2F3BBA7-738F-46C1-A501-8B3EFA88A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E9D3D89-1898-4385-8708-17DC97CDC2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43A3D96-EFF2-4CCC-A7FF-EBA0EA1AC0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BFE9E57-B0A1-43CF-A02F-DCABF2346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3D6D-B350-427B-878A-4910362B187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AA328E7-BD8A-4D38-B92F-2B37EEDDE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E6D8D05-D800-42FE-A1FD-F5EF1C3A9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E1F80-F085-49A4-9DC6-2D6C7B7583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2682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6CEB81-9173-4FB1-A43B-F85EC299D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A4E453E-55C0-4533-8144-8E7985884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3D6D-B350-427B-878A-4910362B187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73D1A7F-D8AA-42E2-9A51-19AF0D943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7FDE289-D4FF-4BB2-BD19-759F3579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E1F80-F085-49A4-9DC6-2D6C7B7583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9062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4A9522C-13D5-4C62-8C01-EA7C44A0C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3D6D-B350-427B-878A-4910362B187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AA01AAE-4894-4D5C-AB21-78176607A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83AD8DF-2104-4D0D-A228-2F3694E2E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E1F80-F085-49A4-9DC6-2D6C7B7583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9513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4A9522C-13D5-4C62-8C01-EA7C44A0C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CA8C3D6D-B350-427B-878A-4910362B1874}" type="datetimeFigureOut">
              <a:rPr lang="ru-RU" smtClean="0"/>
              <a:pPr/>
              <a:t>18.05.2026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AA01AAE-4894-4D5C-AB21-78176607A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83AD8DF-2104-4D0D-A228-2F3694E2E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B8EE1F80-F085-49A4-9DC6-2D6C7B75839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318C2B68-68BC-420F-AD0C-BF0DDB131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3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152DC309-DB6B-45C1-8C0E-AABAC4B309F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0" y="1920875"/>
            <a:ext cx="10515600" cy="1004888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121614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4A9522C-13D5-4C62-8C01-EA7C44A0C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CA8C3D6D-B350-427B-878A-4910362B1874}" type="datetimeFigureOut">
              <a:rPr lang="ru-RU" smtClean="0"/>
              <a:pPr/>
              <a:t>18.05.2026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AA01AAE-4894-4D5C-AB21-78176607A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83AD8DF-2104-4D0D-A228-2F3694E2E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B8EE1F80-F085-49A4-9DC6-2D6C7B75839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23EF11E2-B7CB-4BBC-B945-0B8DE5931A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0" y="3185160"/>
            <a:ext cx="10515600" cy="2743041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318C2B68-68BC-420F-AD0C-BF0DDB131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3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152DC309-DB6B-45C1-8C0E-AABAC4B309F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0" y="1920875"/>
            <a:ext cx="10515600" cy="1004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16526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31DBE9-ED0E-4933-A403-DEAA8CBAD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CD8CEC-EE71-429C-AF0D-72F62F164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9FB94B1-E8E4-4813-823F-CB4F9D258C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9D9C91C-68E4-4E0D-B00D-BEFD57EBF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3D6D-B350-427B-878A-4910362B187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696FF2D-6507-4867-A8DD-F13AF2CBE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D9F676F-2D70-48A5-B11C-CC18EDD6F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E1F80-F085-49A4-9DC6-2D6C7B7583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2874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85544D-F33D-4C35-A3D2-41DCF4C1E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F76A3B0-4882-484D-8DF5-ACFD69576A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BF5DF2E-D59D-4E20-A0BC-DA8CA43575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9568241-26E1-4578-BB9B-A271A98BF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3D6D-B350-427B-878A-4910362B187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0DD13C6-400A-4E2A-8941-A199D54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5E59A46-18F3-400C-A5E9-FA50068CA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E1F80-F085-49A4-9DC6-2D6C7B7583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535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8F1B89-3672-457B-9A70-4B17FA295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CBA5CBB-42C1-4EDB-B8F2-7353AC14DB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7D8B1AD-C6C5-40DF-9F3D-FD4172DC6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3D6D-B350-427B-878A-4910362B187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83215D-BEAF-4778-94ED-D6BD1E1A3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61011C-E406-48C8-B05E-DBDA4ED1B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E1F80-F085-49A4-9DC6-2D6C7B7583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6161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2753EC7-D877-47A6-A6D7-EA02A95BF1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309D301-DA19-404E-A7FA-EE662ECCC2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38CC589-6585-4876-A44C-D03962108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3D6D-B350-427B-878A-4910362B187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D36CB5C-2655-488F-85F5-A3B116E94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585F82-C380-4251-9155-7626D20CA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E1F80-F085-49A4-9DC6-2D6C7B7583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728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hyperlink" Target="https://presentation-creation.ru/" TargetMode="Externa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2B8B86-DF04-464E-84FE-2E0B59199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2F7D5C-0948-43AD-8733-A759C3D7F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861863F-EBDC-4045-B7D3-AA758139A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8C3D6D-B350-427B-878A-4910362B1874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84BBA8-9486-44BD-89A4-67101782A2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095005-B742-4402-9811-75EF742C2A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EE1F80-F085-49A4-9DC6-2D6C7B75839B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7"/>
            <a:extLst>
              <a:ext uri="{FF2B5EF4-FFF2-40B4-BE49-F238E27FC236}">
                <a16:creationId xmlns:a16="http://schemas.microsoft.com/office/drawing/2014/main" id="{A5B3381F-FAD7-45A5-AED6-2A10BC7A0692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94000" y="367393"/>
            <a:ext cx="757762" cy="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064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3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62" r:id="rId10"/>
    <p:sldLayoutId id="2147483661" r:id="rId11"/>
    <p:sldLayoutId id="2147483656" r:id="rId12"/>
    <p:sldLayoutId id="2147483657" r:id="rId13"/>
    <p:sldLayoutId id="2147483658" r:id="rId14"/>
    <p:sldLayoutId id="2147483659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f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3229E3EB-A24E-4BB3-9F2D-18EF4838C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b="0" i="0" dirty="0">
                <a:effectLst/>
              </a:rPr>
              <a:t>Создание целевой переменной</a:t>
            </a:r>
          </a:p>
        </p:txBody>
      </p:sp>
      <p:sp>
        <p:nvSpPr>
          <p:cNvPr id="8" name="Ромб 7">
            <a:extLst>
              <a:ext uri="{FF2B5EF4-FFF2-40B4-BE49-F238E27FC236}">
                <a16:creationId xmlns:a16="http://schemas.microsoft.com/office/drawing/2014/main" id="{B7DB069D-44C6-4830-806D-78B991C96EE0}"/>
              </a:ext>
            </a:extLst>
          </p:cNvPr>
          <p:cNvSpPr/>
          <p:nvPr/>
        </p:nvSpPr>
        <p:spPr>
          <a:xfrm>
            <a:off x="1645920" y="2057400"/>
            <a:ext cx="2087880" cy="2087880"/>
          </a:xfrm>
          <a:prstGeom prst="diamond">
            <a:avLst/>
          </a:prstGeom>
          <a:solidFill>
            <a:schemeClr val="accent4"/>
          </a:solidFill>
          <a:ln w="31750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Ромб 8">
            <a:extLst>
              <a:ext uri="{FF2B5EF4-FFF2-40B4-BE49-F238E27FC236}">
                <a16:creationId xmlns:a16="http://schemas.microsoft.com/office/drawing/2014/main" id="{33CFEF15-7DD3-4E27-B369-1E0972A40556}"/>
              </a:ext>
            </a:extLst>
          </p:cNvPr>
          <p:cNvSpPr/>
          <p:nvPr/>
        </p:nvSpPr>
        <p:spPr>
          <a:xfrm>
            <a:off x="1645920" y="4145280"/>
            <a:ext cx="2087880" cy="2087880"/>
          </a:xfrm>
          <a:prstGeom prst="diamond">
            <a:avLst/>
          </a:prstGeom>
          <a:solidFill>
            <a:schemeClr val="accent3"/>
          </a:solidFill>
          <a:ln w="31750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Ромб 9">
            <a:extLst>
              <a:ext uri="{FF2B5EF4-FFF2-40B4-BE49-F238E27FC236}">
                <a16:creationId xmlns:a16="http://schemas.microsoft.com/office/drawing/2014/main" id="{3D7A729F-6CB6-4F00-AFE7-D071D6A453DB}"/>
              </a:ext>
            </a:extLst>
          </p:cNvPr>
          <p:cNvSpPr/>
          <p:nvPr/>
        </p:nvSpPr>
        <p:spPr>
          <a:xfrm>
            <a:off x="601980" y="3101340"/>
            <a:ext cx="2087880" cy="2087880"/>
          </a:xfrm>
          <a:prstGeom prst="diamond">
            <a:avLst/>
          </a:prstGeom>
          <a:solidFill>
            <a:schemeClr val="accent5"/>
          </a:solidFill>
          <a:ln w="31750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Ромб 10">
            <a:extLst>
              <a:ext uri="{FF2B5EF4-FFF2-40B4-BE49-F238E27FC236}">
                <a16:creationId xmlns:a16="http://schemas.microsoft.com/office/drawing/2014/main" id="{BF6A3EBA-34A0-408A-9E1A-55A2E8D4C4D9}"/>
              </a:ext>
            </a:extLst>
          </p:cNvPr>
          <p:cNvSpPr/>
          <p:nvPr/>
        </p:nvSpPr>
        <p:spPr>
          <a:xfrm>
            <a:off x="2689860" y="3101340"/>
            <a:ext cx="2087880" cy="2087880"/>
          </a:xfrm>
          <a:prstGeom prst="diamond">
            <a:avLst/>
          </a:prstGeom>
          <a:solidFill>
            <a:schemeClr val="accent2"/>
          </a:solidFill>
          <a:ln w="31750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4995B7-D06D-4525-8F3E-3EF6A0239570}"/>
              </a:ext>
            </a:extLst>
          </p:cNvPr>
          <p:cNvSpPr txBox="1"/>
          <p:nvPr/>
        </p:nvSpPr>
        <p:spPr>
          <a:xfrm>
            <a:off x="6524795" y="1364887"/>
            <a:ext cx="466967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accent3"/>
                </a:solidFill>
              </a:rPr>
              <a:t>Принцип</a:t>
            </a:r>
            <a:r>
              <a:rPr lang="ru-RU" dirty="0">
                <a:solidFill>
                  <a:schemeClr val="accent3"/>
                </a:solidFill>
              </a:rPr>
              <a:t>: </a:t>
            </a:r>
            <a:r>
              <a:rPr lang="ru-RU" dirty="0" err="1">
                <a:solidFill>
                  <a:schemeClr val="accent3"/>
                </a:solidFill>
              </a:rPr>
              <a:t>target</a:t>
            </a:r>
            <a:r>
              <a:rPr lang="ru-RU" dirty="0">
                <a:solidFill>
                  <a:schemeClr val="accent3"/>
                </a:solidFill>
              </a:rPr>
              <a:t> = 1, если у пары </a:t>
            </a:r>
            <a:r>
              <a:rPr lang="ru-RU" dirty="0" err="1">
                <a:solidFill>
                  <a:schemeClr val="accent3"/>
                </a:solidFill>
              </a:rPr>
              <a:t>User+shift</a:t>
            </a:r>
            <a:r>
              <a:rPr lang="ru-RU" dirty="0">
                <a:solidFill>
                  <a:schemeClr val="accent3"/>
                </a:solidFill>
              </a:rPr>
              <a:t> было событие "</a:t>
            </a:r>
            <a:r>
              <a:rPr lang="ru-RU" dirty="0" err="1">
                <a:solidFill>
                  <a:schemeClr val="accent3"/>
                </a:solidFill>
              </a:rPr>
              <a:t>Apply</a:t>
            </a:r>
            <a:r>
              <a:rPr lang="ru-RU" dirty="0">
                <a:solidFill>
                  <a:schemeClr val="accent3"/>
                </a:solidFill>
              </a:rPr>
              <a:t>" или "</a:t>
            </a:r>
            <a:r>
              <a:rPr lang="ru-RU" dirty="0" err="1">
                <a:solidFill>
                  <a:schemeClr val="accent3"/>
                </a:solidFill>
              </a:rPr>
              <a:t>Finished</a:t>
            </a:r>
            <a:r>
              <a:rPr lang="ru-RU" dirty="0">
                <a:solidFill>
                  <a:schemeClr val="accent3"/>
                </a:solidFill>
              </a:rPr>
              <a:t>", и не было отмен. Смены с </a:t>
            </a:r>
            <a:r>
              <a:rPr lang="ru-RU" dirty="0" err="1">
                <a:solidFill>
                  <a:schemeClr val="accent3"/>
                </a:solidFill>
              </a:rPr>
              <a:t>System_cancel</a:t>
            </a:r>
            <a:r>
              <a:rPr lang="ru-RU" dirty="0">
                <a:solidFill>
                  <a:schemeClr val="accent3"/>
                </a:solidFill>
              </a:rPr>
              <a:t> удаляем (они не будут участвовать в оценке результатов)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3B52FA-F224-4F75-81C3-06B7984F7977}"/>
              </a:ext>
            </a:extLst>
          </p:cNvPr>
          <p:cNvSpPr txBox="1"/>
          <p:nvPr/>
        </p:nvSpPr>
        <p:spPr>
          <a:xfrm>
            <a:off x="6524794" y="3062706"/>
            <a:ext cx="48675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accent3"/>
                </a:solidFill>
              </a:rPr>
              <a:t>Общий объем</a:t>
            </a:r>
            <a:r>
              <a:rPr lang="ru-RU" dirty="0">
                <a:solidFill>
                  <a:schemeClr val="accent3"/>
                </a:solidFill>
              </a:rPr>
              <a:t>: Сгруппировано и агрегировано </a:t>
            </a:r>
          </a:p>
          <a:p>
            <a:r>
              <a:rPr lang="ru-RU" b="1" dirty="0">
                <a:solidFill>
                  <a:schemeClr val="accent3"/>
                </a:solidFill>
              </a:rPr>
              <a:t>767 065 пар </a:t>
            </a:r>
            <a:r>
              <a:rPr lang="ru-RU" dirty="0">
                <a:solidFill>
                  <a:schemeClr val="accent3"/>
                </a:solidFill>
              </a:rPr>
              <a:t>«пользователь — смена».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C4BF36-4F37-43EC-8B06-B8050478A487}"/>
              </a:ext>
            </a:extLst>
          </p:cNvPr>
          <p:cNvSpPr txBox="1"/>
          <p:nvPr/>
        </p:nvSpPr>
        <p:spPr>
          <a:xfrm>
            <a:off x="6524794" y="4055430"/>
            <a:ext cx="4764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accent3"/>
                </a:solidFill>
              </a:rPr>
              <a:t>Размер выборки после очистки</a:t>
            </a:r>
            <a:r>
              <a:rPr lang="ru-RU" dirty="0">
                <a:solidFill>
                  <a:schemeClr val="accent3"/>
                </a:solidFill>
              </a:rPr>
              <a:t>: В финальный анализ вошло </a:t>
            </a:r>
            <a:r>
              <a:rPr lang="ru-RU" b="1" dirty="0">
                <a:solidFill>
                  <a:schemeClr val="accent3"/>
                </a:solidFill>
              </a:rPr>
              <a:t>757 976 пар </a:t>
            </a:r>
            <a:r>
              <a:rPr lang="ru-RU" dirty="0">
                <a:solidFill>
                  <a:schemeClr val="accent3"/>
                </a:solidFill>
              </a:rPr>
              <a:t>(исправлено/исключено менее 1.2% данных).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51C0E16-423F-4F5C-AD1F-F92A460C460C}"/>
              </a:ext>
            </a:extLst>
          </p:cNvPr>
          <p:cNvSpPr/>
          <p:nvPr/>
        </p:nvSpPr>
        <p:spPr>
          <a:xfrm>
            <a:off x="6167005" y="1973665"/>
            <a:ext cx="259772" cy="2597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70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D7E7B88-A98E-4097-985F-32194BA57B77}"/>
              </a:ext>
            </a:extLst>
          </p:cNvPr>
          <p:cNvSpPr/>
          <p:nvPr/>
        </p:nvSpPr>
        <p:spPr>
          <a:xfrm>
            <a:off x="6167005" y="3255986"/>
            <a:ext cx="259772" cy="259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70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FBC3588E-9C3F-4D6F-B182-850838EAB3DC}"/>
              </a:ext>
            </a:extLst>
          </p:cNvPr>
          <p:cNvSpPr/>
          <p:nvPr/>
        </p:nvSpPr>
        <p:spPr>
          <a:xfrm>
            <a:off x="6167005" y="4387209"/>
            <a:ext cx="259772" cy="2597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70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EF2822A-7580-4D7B-AFE3-5CC6E0EF05E7}"/>
              </a:ext>
            </a:extLst>
          </p:cNvPr>
          <p:cNvSpPr/>
          <p:nvPr/>
        </p:nvSpPr>
        <p:spPr>
          <a:xfrm>
            <a:off x="6167005" y="5650979"/>
            <a:ext cx="259772" cy="2597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7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172E6B-3C8F-41BC-8B97-E381FDFB8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3333" y="4811369"/>
            <a:ext cx="482900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dirty="0">
                <a:solidFill>
                  <a:schemeClr val="accent3"/>
                </a:solidFill>
              </a:rPr>
              <a:t> </a:t>
            </a:r>
            <a:r>
              <a:rPr lang="ru-RU" altLang="ru-RU" b="1" dirty="0">
                <a:solidFill>
                  <a:schemeClr val="accent3"/>
                </a:solidFill>
              </a:rPr>
              <a:t>Дисбаланс классов</a:t>
            </a:r>
            <a:r>
              <a:rPr lang="ru-RU" altLang="ru-RU" dirty="0">
                <a:solidFill>
                  <a:schemeClr val="accent3"/>
                </a:solidFill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altLang="ru-RU" b="1" dirty="0">
                <a:solidFill>
                  <a:schemeClr val="accent3"/>
                </a:solidFill>
              </a:rPr>
              <a:t>Класс </a:t>
            </a:r>
            <a:r>
              <a:rPr lang="ru-RU" altLang="ru-RU" b="1" dirty="0" err="1">
                <a:solidFill>
                  <a:schemeClr val="accent3"/>
                </a:solidFill>
              </a:rPr>
              <a:t>target</a:t>
            </a:r>
            <a:r>
              <a:rPr lang="ru-RU" altLang="ru-RU" b="1" dirty="0">
                <a:solidFill>
                  <a:schemeClr val="accent3"/>
                </a:solidFill>
              </a:rPr>
              <a:t> </a:t>
            </a:r>
            <a:r>
              <a:rPr lang="ru-RU" altLang="ru-RU" dirty="0">
                <a:solidFill>
                  <a:schemeClr val="accent3"/>
                </a:solidFill>
              </a:rPr>
              <a:t>= 0 (Нет целевого действия): 742 057 пар (97.90% выборки).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altLang="ru-RU" b="1" dirty="0">
                <a:solidFill>
                  <a:schemeClr val="accent3"/>
                </a:solidFill>
              </a:rPr>
              <a:t>Класс </a:t>
            </a:r>
            <a:r>
              <a:rPr lang="ru-RU" altLang="ru-RU" b="1" dirty="0" err="1">
                <a:solidFill>
                  <a:schemeClr val="accent3"/>
                </a:solidFill>
              </a:rPr>
              <a:t>target</a:t>
            </a:r>
            <a:r>
              <a:rPr lang="ru-RU" altLang="ru-RU" b="1" dirty="0">
                <a:solidFill>
                  <a:schemeClr val="accent3"/>
                </a:solidFill>
              </a:rPr>
              <a:t> </a:t>
            </a:r>
            <a:r>
              <a:rPr lang="ru-RU" altLang="ru-RU" dirty="0">
                <a:solidFill>
                  <a:schemeClr val="accent3"/>
                </a:solidFill>
              </a:rPr>
              <a:t>= 1 (Целевое действие): 15 919 пар (2.10% выборки).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6646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350B02-5C4A-40FF-B5BC-FB7FDAF17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9653"/>
          </a:xfrm>
        </p:spPr>
        <p:txBody>
          <a:bodyPr/>
          <a:lstStyle/>
          <a:p>
            <a:pPr algn="l"/>
            <a:r>
              <a:rPr lang="ru-RU" b="0" i="0" dirty="0">
                <a:effectLst/>
                <a:latin typeface="system-ui"/>
              </a:rPr>
              <a:t>Формирование признаков</a:t>
            </a:r>
          </a:p>
        </p:txBody>
      </p:sp>
      <p:graphicFrame>
        <p:nvGraphicFramePr>
          <p:cNvPr id="3" name="Таблица 3">
            <a:extLst>
              <a:ext uri="{FF2B5EF4-FFF2-40B4-BE49-F238E27FC236}">
                <a16:creationId xmlns:a16="http://schemas.microsoft.com/office/drawing/2014/main" id="{FFAEFC2F-63D1-46BD-86B0-72C6706ACF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0540927"/>
              </p:ext>
            </p:extLst>
          </p:nvPr>
        </p:nvGraphicFramePr>
        <p:xfrm>
          <a:off x="5580404" y="1196412"/>
          <a:ext cx="6212793" cy="539876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93343">
                  <a:extLst>
                    <a:ext uri="{9D8B030D-6E8A-4147-A177-3AD203B41FA5}">
                      <a16:colId xmlns:a16="http://schemas.microsoft.com/office/drawing/2014/main" val="640902181"/>
                    </a:ext>
                  </a:extLst>
                </a:gridCol>
                <a:gridCol w="873039">
                  <a:extLst>
                    <a:ext uri="{9D8B030D-6E8A-4147-A177-3AD203B41FA5}">
                      <a16:colId xmlns:a16="http://schemas.microsoft.com/office/drawing/2014/main" val="563290941"/>
                    </a:ext>
                  </a:extLst>
                </a:gridCol>
                <a:gridCol w="4446411">
                  <a:extLst>
                    <a:ext uri="{9D8B030D-6E8A-4147-A177-3AD203B41FA5}">
                      <a16:colId xmlns:a16="http://schemas.microsoft.com/office/drawing/2014/main" val="2971463678"/>
                    </a:ext>
                  </a:extLst>
                </a:gridCol>
              </a:tblGrid>
              <a:tr h="309551">
                <a:tc>
                  <a:txBody>
                    <a:bodyPr/>
                    <a:lstStyle/>
                    <a:p>
                      <a:pPr fontAlgn="ctr"/>
                      <a:r>
                        <a:rPr lang="ru-RU" sz="1000" b="1" dirty="0">
                          <a:effectLst/>
                        </a:rPr>
                        <a:t>Группа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1000" b="1">
                          <a:effectLst/>
                        </a:rPr>
                        <a:t>Признаки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1000" b="1" dirty="0">
                          <a:effectLst/>
                        </a:rPr>
                        <a:t>Типы признаков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3694773"/>
                  </a:ext>
                </a:extLst>
              </a:tr>
              <a:tr h="428609">
                <a:tc>
                  <a:txBody>
                    <a:bodyPr/>
                    <a:lstStyle/>
                    <a:p>
                      <a:pPr fontAlgn="ctr"/>
                      <a:r>
                        <a:rPr lang="ru-RU" sz="100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1000">
                          <a:effectLst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1000" dirty="0">
                          <a:effectLst/>
                        </a:rPr>
                        <a:t>Базовые характеристики смены (длительность смены, оплата за смену, кол-во человек в смену и т.д.)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4318023"/>
                  </a:ext>
                </a:extLst>
              </a:tr>
              <a:tr h="353449">
                <a:tc>
                  <a:txBody>
                    <a:bodyPr/>
                    <a:lstStyle/>
                    <a:p>
                      <a:pPr fontAlgn="ctr"/>
                      <a:r>
                        <a:rPr lang="ru-RU" sz="1000" dirty="0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1000">
                          <a:effectLst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1000" dirty="0">
                          <a:effectLst/>
                        </a:rPr>
                        <a:t>Временные характеристики (день недели, время суток, будний/выходной день и т.д.)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636786"/>
                  </a:ext>
                </a:extLst>
              </a:tr>
              <a:tr h="391517">
                <a:tc>
                  <a:txBody>
                    <a:bodyPr/>
                    <a:lstStyle/>
                    <a:p>
                      <a:pPr fontAlgn="ctr"/>
                      <a:r>
                        <a:rPr lang="ru-RU" sz="1000" dirty="0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1000" dirty="0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1000" dirty="0">
                          <a:effectLst/>
                        </a:rPr>
                        <a:t>Оконные статистики (контекст рынка)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4286973"/>
                  </a:ext>
                </a:extLst>
              </a:tr>
              <a:tr h="428609">
                <a:tc>
                  <a:txBody>
                    <a:bodyPr/>
                    <a:lstStyle/>
                    <a:p>
                      <a:pPr fontAlgn="ctr"/>
                      <a:r>
                        <a:rPr lang="ru-RU" sz="1000" dirty="0">
                          <a:effectLst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1000" dirty="0">
                          <a:effectLst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1000" dirty="0">
                          <a:effectLst/>
                        </a:rPr>
                        <a:t>Взаимодействие пользователь-смена (совпадение локаций пользователь/смена, категория заданий и т.д.)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444954"/>
                  </a:ext>
                </a:extLst>
              </a:tr>
              <a:tr h="489391">
                <a:tc>
                  <a:txBody>
                    <a:bodyPr/>
                    <a:lstStyle/>
                    <a:p>
                      <a:pPr fontAlgn="ctr"/>
                      <a:r>
                        <a:rPr lang="ru-RU" sz="1000">
                          <a:effectLst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1000" dirty="0">
                          <a:effectLst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>
                          <a:effectLst/>
                        </a:rPr>
                        <a:t>История </a:t>
                      </a:r>
                      <a:r>
                        <a:rPr lang="ru-RU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пользователя (окно [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T-30, T-2]</a:t>
                      </a:r>
                      <a:r>
                        <a:rPr lang="ru-RU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для успешных записей, уникальные типы заданий, кол-во просмотренных смен и т.д.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fontAlgn="ctr"/>
                      <a:endParaRPr lang="ru-RU" sz="10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6634178"/>
                  </a:ext>
                </a:extLst>
              </a:tr>
              <a:tr h="236347">
                <a:tc>
                  <a:txBody>
                    <a:bodyPr/>
                    <a:lstStyle/>
                    <a:p>
                      <a:pPr fontAlgn="ctr"/>
                      <a:r>
                        <a:rPr lang="ru-RU" sz="1000">
                          <a:effectLst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1000" dirty="0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1000" dirty="0">
                          <a:effectLst/>
                        </a:rPr>
                        <a:t>Скользящие окна успехов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816353"/>
                  </a:ext>
                </a:extLst>
              </a:tr>
              <a:tr h="353449">
                <a:tc>
                  <a:txBody>
                    <a:bodyPr/>
                    <a:lstStyle/>
                    <a:p>
                      <a:pPr fontAlgn="ctr"/>
                      <a:r>
                        <a:rPr lang="ru-RU" sz="1000">
                          <a:effectLst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1000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1000" dirty="0">
                          <a:effectLst/>
                        </a:rPr>
                        <a:t>Опыт по задачам и работодателю (опыт с данным типов задач, опыт с данным работодателем)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2696632"/>
                  </a:ext>
                </a:extLst>
              </a:tr>
              <a:tr h="236347">
                <a:tc>
                  <a:txBody>
                    <a:bodyPr/>
                    <a:lstStyle/>
                    <a:p>
                      <a:pPr fontAlgn="ctr"/>
                      <a:r>
                        <a:rPr lang="ru-RU" sz="1000">
                          <a:effectLst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1000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1000" dirty="0">
                          <a:effectLst/>
                        </a:rPr>
                        <a:t>Характеристики заказчика (средняя оплата смен, популярность, надежность)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386878"/>
                  </a:ext>
                </a:extLst>
              </a:tr>
              <a:tr h="236347">
                <a:tc>
                  <a:txBody>
                    <a:bodyPr/>
                    <a:lstStyle/>
                    <a:p>
                      <a:pPr fontAlgn="ctr"/>
                      <a:r>
                        <a:rPr lang="ru-RU" sz="1000">
                          <a:effectLst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1000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1000" dirty="0">
                          <a:effectLst/>
                        </a:rPr>
                        <a:t>Популярность смены (кол-во просмотров, заполненность и т.д.)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1308130"/>
                  </a:ext>
                </a:extLst>
              </a:tr>
              <a:tr h="236347">
                <a:tc>
                  <a:txBody>
                    <a:bodyPr/>
                    <a:lstStyle/>
                    <a:p>
                      <a:pPr fontAlgn="ctr"/>
                      <a:r>
                        <a:rPr lang="ru-RU" sz="1000">
                          <a:effectLst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1000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1000" dirty="0">
                          <a:effectLst/>
                        </a:rPr>
                        <a:t>Взаимодействие со сменой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1268491"/>
                  </a:ext>
                </a:extLst>
              </a:tr>
              <a:tr h="353449">
                <a:tc>
                  <a:txBody>
                    <a:bodyPr/>
                    <a:lstStyle/>
                    <a:p>
                      <a:pPr fontAlgn="ctr"/>
                      <a:r>
                        <a:rPr lang="ru-RU" sz="1000">
                          <a:effectLst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1000">
                          <a:effectLst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1000" dirty="0">
                          <a:effectLst/>
                        </a:rPr>
                        <a:t>Предпочтения пользователя (доля успехов: в выходные, днем, вечером, ночью)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7948495"/>
                  </a:ext>
                </a:extLst>
              </a:tr>
              <a:tr h="353449">
                <a:tc>
                  <a:txBody>
                    <a:bodyPr/>
                    <a:lstStyle/>
                    <a:p>
                      <a:pPr fontAlgn="ctr"/>
                      <a:r>
                        <a:rPr lang="ru-RU" sz="1000">
                          <a:effectLst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1000">
                          <a:effectLst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1000" dirty="0">
                          <a:effectLst/>
                        </a:rPr>
                        <a:t>Совпадение предпочтений (совпадения по оплате, времени суток, локации и т.д.)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8455321"/>
                  </a:ext>
                </a:extLst>
              </a:tr>
              <a:tr h="236347">
                <a:tc>
                  <a:txBody>
                    <a:bodyPr/>
                    <a:lstStyle/>
                    <a:p>
                      <a:pPr fontAlgn="ctr"/>
                      <a:r>
                        <a:rPr lang="ru-RU" sz="1000">
                          <a:effectLst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100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1000">
                          <a:effectLst/>
                        </a:rPr>
                        <a:t>Занятость в день смены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195860"/>
                  </a:ext>
                </a:extLst>
              </a:tr>
              <a:tr h="236347">
                <a:tc>
                  <a:txBody>
                    <a:bodyPr/>
                    <a:lstStyle/>
                    <a:p>
                      <a:pPr fontAlgn="ctr"/>
                      <a:r>
                        <a:rPr lang="ru-RU" sz="1000">
                          <a:effectLst/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100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1000">
                          <a:effectLst/>
                        </a:rPr>
                        <a:t>Комбинированные признаки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5244049"/>
                  </a:ext>
                </a:extLst>
              </a:tr>
              <a:tr h="236347">
                <a:tc>
                  <a:txBody>
                    <a:bodyPr/>
                    <a:lstStyle/>
                    <a:p>
                      <a:pPr fontAlgn="ctr"/>
                      <a:r>
                        <a:rPr lang="ru-RU" sz="1000" b="1">
                          <a:effectLst/>
                        </a:rPr>
                        <a:t>Итого</a:t>
                      </a:r>
                      <a:endParaRPr lang="ru-RU" sz="10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1000" b="1">
                          <a:effectLst/>
                        </a:rPr>
                        <a:t>51</a:t>
                      </a:r>
                      <a:endParaRPr lang="ru-RU" sz="10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endParaRPr lang="ru-RU" sz="10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121826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914CA62-F18F-4C85-9C95-CF29D90F5D3B}"/>
              </a:ext>
            </a:extLst>
          </p:cNvPr>
          <p:cNvSpPr txBox="1"/>
          <p:nvPr/>
        </p:nvSpPr>
        <p:spPr>
          <a:xfrm>
            <a:off x="838201" y="1264778"/>
            <a:ext cx="4468737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400" b="1" dirty="0">
                <a:solidFill>
                  <a:schemeClr val="accent3"/>
                </a:solidFill>
              </a:rPr>
              <a:t>Общая информация: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altLang="ru-RU" sz="1400" b="1" dirty="0">
                <a:solidFill>
                  <a:schemeClr val="accent3"/>
                </a:solidFill>
              </a:rPr>
              <a:t>    Целевая переменная: </a:t>
            </a:r>
            <a:r>
              <a:rPr lang="ru-RU" altLang="ru-RU" sz="1400" b="1" dirty="0" err="1">
                <a:solidFill>
                  <a:schemeClr val="accent3"/>
                </a:solidFill>
              </a:rPr>
              <a:t>target</a:t>
            </a:r>
            <a:r>
              <a:rPr lang="ru-RU" altLang="ru-RU" sz="1400" b="1" dirty="0">
                <a:solidFill>
                  <a:schemeClr val="accent3"/>
                </a:solidFill>
              </a:rPr>
              <a:t> (1 - пользователь записался на смену, 0 - не записался)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altLang="ru-RU" sz="1400" b="1" dirty="0">
                <a:solidFill>
                  <a:schemeClr val="accent3"/>
                </a:solidFill>
              </a:rPr>
              <a:t>    Момент предсказания: за 2 дня до начала смены (</a:t>
            </a:r>
            <a:r>
              <a:rPr lang="ru-RU" altLang="ru-RU" sz="1400" b="1" dirty="0" err="1">
                <a:solidFill>
                  <a:schemeClr val="accent3"/>
                </a:solidFill>
              </a:rPr>
              <a:t>start_at</a:t>
            </a:r>
            <a:r>
              <a:rPr lang="ru-RU" altLang="ru-RU" sz="1400" b="1" dirty="0">
                <a:solidFill>
                  <a:schemeClr val="accent3"/>
                </a:solidFill>
              </a:rPr>
              <a:t> - 2 дня)</a:t>
            </a:r>
          </a:p>
          <a:p>
            <a:pPr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ru-RU" altLang="ru-RU" sz="1400" b="1" dirty="0">
                <a:solidFill>
                  <a:schemeClr val="accent3"/>
                </a:solidFill>
              </a:rPr>
              <a:t>Все исторические признаки используют только события с </a:t>
            </a:r>
            <a:r>
              <a:rPr lang="ru-RU" altLang="ru-RU" sz="1400" b="1" dirty="0" err="1">
                <a:solidFill>
                  <a:schemeClr val="accent3"/>
                </a:solidFill>
              </a:rPr>
              <a:t>ts</a:t>
            </a:r>
            <a:r>
              <a:rPr lang="ru-RU" altLang="ru-RU" sz="1400" b="1" dirty="0">
                <a:solidFill>
                  <a:schemeClr val="accent3"/>
                </a:solidFill>
              </a:rPr>
              <a:t> &lt; </a:t>
            </a:r>
            <a:r>
              <a:rPr lang="ru-RU" altLang="ru-RU" sz="1400" b="1" dirty="0" err="1">
                <a:solidFill>
                  <a:schemeClr val="accent3"/>
                </a:solidFill>
              </a:rPr>
              <a:t>start_at</a:t>
            </a:r>
            <a:r>
              <a:rPr lang="ru-RU" altLang="ru-RU" sz="1400" b="1" dirty="0">
                <a:solidFill>
                  <a:schemeClr val="accent3"/>
                </a:solidFill>
              </a:rPr>
              <a:t> - 2 дня</a:t>
            </a:r>
          </a:p>
          <a:p>
            <a:pPr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ru-RU" altLang="ru-RU" sz="1400" b="1" dirty="0">
                <a:solidFill>
                  <a:schemeClr val="accent3"/>
                </a:solidFill>
              </a:rPr>
              <a:t>Окно для исторических признаков - [T-30, T-2] (28 дней), кроме специально оговоренных случаев</a:t>
            </a:r>
          </a:p>
          <a:p>
            <a:pPr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ru-RU" altLang="ru-RU" sz="1400" b="1" dirty="0">
                <a:solidFill>
                  <a:schemeClr val="accent3"/>
                </a:solidFill>
              </a:rPr>
              <a:t>Основные категории сформированных признаков: </a:t>
            </a:r>
            <a:r>
              <a:rPr lang="ru-RU" sz="1400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</a:t>
            </a:r>
            <a:r>
              <a:rPr lang="ru-RU" sz="1400" dirty="0">
                <a:solidFill>
                  <a:srgbClr val="FFFFFF"/>
                </a:solidFill>
                <a:latin typeface="Roboto" panose="02000000000000000000" pitchFamily="2" charset="0"/>
              </a:rPr>
              <a:t>-</a:t>
            </a:r>
            <a:r>
              <a:rPr lang="ru-RU" sz="1400" b="1" dirty="0">
                <a:solidFill>
                  <a:schemeClr val="accent3"/>
                </a:solidFill>
              </a:rPr>
              <a:t> - связанные с уровнем оплаты, локацией, выходной/рабочий день и пр.)</a:t>
            </a:r>
            <a:br>
              <a:rPr lang="ru-RU" sz="1400" b="1" dirty="0">
                <a:solidFill>
                  <a:schemeClr val="accent3"/>
                </a:solidFill>
              </a:rPr>
            </a:br>
            <a:r>
              <a:rPr lang="ru-RU" sz="1400" b="1" dirty="0">
                <a:solidFill>
                  <a:schemeClr val="accent3"/>
                </a:solidFill>
              </a:rPr>
              <a:t>- признаки пользователя (его активность, наличие медкнижки и </a:t>
            </a:r>
            <a:r>
              <a:rPr lang="ru-RU" sz="1400" b="1" dirty="0" err="1">
                <a:solidFill>
                  <a:schemeClr val="accent3"/>
                </a:solidFill>
              </a:rPr>
              <a:t>пр</a:t>
            </a:r>
            <a:r>
              <a:rPr lang="ru-RU" sz="1400" b="1" dirty="0">
                <a:solidFill>
                  <a:schemeClr val="accent3"/>
                </a:solidFill>
              </a:rPr>
              <a:t>)</a:t>
            </a:r>
            <a:br>
              <a:rPr lang="ru-RU" sz="1400" b="1" dirty="0">
                <a:solidFill>
                  <a:schemeClr val="accent3"/>
                </a:solidFill>
              </a:rPr>
            </a:br>
            <a:r>
              <a:rPr lang="ru-RU" sz="1400" b="1" dirty="0">
                <a:solidFill>
                  <a:schemeClr val="accent3"/>
                </a:solidFill>
              </a:rPr>
              <a:t>- признаки взаимодействия пользователя и смены (совпадает ли локация, удовлетворяет ли требованию наличия мед книжки и </a:t>
            </a:r>
            <a:r>
              <a:rPr lang="ru-RU" sz="1400" b="1" dirty="0" err="1">
                <a:solidFill>
                  <a:schemeClr val="accent3"/>
                </a:solidFill>
              </a:rPr>
              <a:t>пр</a:t>
            </a:r>
            <a:r>
              <a:rPr lang="ru-RU" sz="1400" b="1" dirty="0">
                <a:solidFill>
                  <a:schemeClr val="accent3"/>
                </a:solidFill>
              </a:rPr>
              <a:t>).</a:t>
            </a:r>
            <a:endParaRPr lang="ru-RU" altLang="ru-RU" sz="1400" b="1" dirty="0">
              <a:solidFill>
                <a:schemeClr val="accent3"/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ru-RU" altLang="ru-RU" b="1" dirty="0">
              <a:solidFill>
                <a:schemeClr val="accent3"/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ru-RU" altLang="ru-RU" sz="1800" b="1" dirty="0">
              <a:solidFill>
                <a:schemeClr val="accent3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515E03-6087-4CE4-BB31-27BE16F9FB34}"/>
              </a:ext>
            </a:extLst>
          </p:cNvPr>
          <p:cNvSpPr txBox="1"/>
          <p:nvPr/>
        </p:nvSpPr>
        <p:spPr>
          <a:xfrm>
            <a:off x="2151404" y="3246470"/>
            <a:ext cx="6695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>
                <a:solidFill>
                  <a:schemeClr val="accent3"/>
                </a:solidFill>
              </a:rPr>
              <a:t>-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82608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350B02-5C4A-40FF-B5BC-FB7FDAF17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9653"/>
          </a:xfrm>
        </p:spPr>
        <p:txBody>
          <a:bodyPr/>
          <a:lstStyle/>
          <a:p>
            <a:pPr algn="l"/>
            <a:r>
              <a:rPr lang="ru-RU" b="0" i="0" dirty="0">
                <a:effectLst/>
                <a:latin typeface="system-ui"/>
              </a:rPr>
              <a:t>Формирование признаков</a:t>
            </a:r>
          </a:p>
        </p:txBody>
      </p:sp>
      <p:graphicFrame>
        <p:nvGraphicFramePr>
          <p:cNvPr id="3" name="Таблица 3">
            <a:extLst>
              <a:ext uri="{FF2B5EF4-FFF2-40B4-BE49-F238E27FC236}">
                <a16:creationId xmlns:a16="http://schemas.microsoft.com/office/drawing/2014/main" id="{FFAEFC2F-63D1-46BD-86B0-72C6706ACF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2328035"/>
              </p:ext>
            </p:extLst>
          </p:nvPr>
        </p:nvGraphicFramePr>
        <p:xfrm>
          <a:off x="5580404" y="1196412"/>
          <a:ext cx="5835733" cy="520831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83663">
                  <a:extLst>
                    <a:ext uri="{9D8B030D-6E8A-4147-A177-3AD203B41FA5}">
                      <a16:colId xmlns:a16="http://schemas.microsoft.com/office/drawing/2014/main" val="640902181"/>
                    </a:ext>
                  </a:extLst>
                </a:gridCol>
                <a:gridCol w="1529697">
                  <a:extLst>
                    <a:ext uri="{9D8B030D-6E8A-4147-A177-3AD203B41FA5}">
                      <a16:colId xmlns:a16="http://schemas.microsoft.com/office/drawing/2014/main" val="3628881798"/>
                    </a:ext>
                  </a:extLst>
                </a:gridCol>
                <a:gridCol w="2538101">
                  <a:extLst>
                    <a:ext uri="{9D8B030D-6E8A-4147-A177-3AD203B41FA5}">
                      <a16:colId xmlns:a16="http://schemas.microsoft.com/office/drawing/2014/main" val="2971463678"/>
                    </a:ext>
                  </a:extLst>
                </a:gridCol>
                <a:gridCol w="1084272">
                  <a:extLst>
                    <a:ext uri="{9D8B030D-6E8A-4147-A177-3AD203B41FA5}">
                      <a16:colId xmlns:a16="http://schemas.microsoft.com/office/drawing/2014/main" val="3787709122"/>
                    </a:ext>
                  </a:extLst>
                </a:gridCol>
              </a:tblGrid>
              <a:tr h="334528">
                <a:tc gridSpan="4">
                  <a:txBody>
                    <a:bodyPr/>
                    <a:lstStyle/>
                    <a:p>
                      <a:pPr fontAlgn="ctr"/>
                      <a:r>
                        <a:rPr lang="ru-RU" sz="1800" b="1" dirty="0">
                          <a:effectLst/>
                        </a:rPr>
                        <a:t>Признаки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fontAlgn="ctr"/>
                      <a:endParaRPr lang="ru-RU" sz="1000" b="1" dirty="0">
                        <a:effectLst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fontAlgn="ctr"/>
                      <a:endParaRPr lang="ru-RU" sz="1000" b="1" dirty="0">
                        <a:effectLst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fontAlgn="ctr"/>
                      <a:endParaRPr lang="ru-RU" sz="1000" b="1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6106126"/>
                  </a:ext>
                </a:extLst>
              </a:tr>
              <a:tr h="428212">
                <a:tc>
                  <a:txBody>
                    <a:bodyPr/>
                    <a:lstStyle/>
                    <a:p>
                      <a:pPr fontAlgn="ctr"/>
                      <a:r>
                        <a:rPr lang="ru-RU" sz="1200" b="1" dirty="0">
                          <a:effectLst/>
                        </a:rPr>
                        <a:t>Группа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1200" b="1" dirty="0">
                          <a:effectLst/>
                        </a:rPr>
                        <a:t>Описание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1200" b="1" dirty="0">
                          <a:effectLst/>
                        </a:rPr>
                        <a:t>Примеры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1200" b="1" dirty="0">
                          <a:effectLst/>
                        </a:rPr>
                        <a:t>Количество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3694773"/>
                  </a:ext>
                </a:extLst>
              </a:tr>
              <a:tr h="922302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dirty="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1200" b="1" dirty="0">
                          <a:solidFill>
                            <a:schemeClr val="accent3"/>
                          </a:solidFill>
                        </a:rPr>
                        <a:t>связанные с уровнем оплаты, локацией, выходной/рабочий день и пр.)</a:t>
                      </a:r>
                      <a:endParaRPr lang="ru-RU" sz="12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1200" b="1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Базовые характеристики смены (</a:t>
                      </a:r>
                      <a:r>
                        <a:rPr lang="en-US" sz="1200" b="1" kern="1200" dirty="0" err="1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reward_per_hour</a:t>
                      </a:r>
                      <a:r>
                        <a:rPr lang="ru-RU" sz="1200" b="1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200" b="1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capacity</a:t>
                      </a:r>
                      <a:r>
                        <a:rPr lang="ru-RU" sz="1200" b="1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Временные признаки смены (</a:t>
                      </a:r>
                      <a:r>
                        <a:rPr lang="en-US" sz="1200" b="1" kern="1200" dirty="0" err="1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shift_day_of_week</a:t>
                      </a:r>
                      <a:r>
                        <a:rPr lang="ru-RU" sz="1200" b="1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200" b="1" kern="1200" dirty="0" err="1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is_weekday</a:t>
                      </a:r>
                      <a:r>
                        <a:rPr lang="ru-RU" sz="1200" b="1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…)</a:t>
                      </a:r>
                    </a:p>
                    <a:p>
                      <a:pPr fontAlgn="ctr"/>
                      <a:endParaRPr lang="ru-RU" sz="12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ru-RU" sz="1200" b="1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51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4318023"/>
                  </a:ext>
                </a:extLst>
              </a:tr>
              <a:tr h="889363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dirty="0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1200" b="1" dirty="0">
                          <a:solidFill>
                            <a:schemeClr val="accent3"/>
                          </a:solidFill>
                        </a:rPr>
                        <a:t>признаки пользователя (его активность, наличие медкнижки и </a:t>
                      </a:r>
                      <a:r>
                        <a:rPr lang="ru-RU" sz="1200" b="1" dirty="0" err="1">
                          <a:solidFill>
                            <a:schemeClr val="accent3"/>
                          </a:solidFill>
                        </a:rPr>
                        <a:t>пр</a:t>
                      </a:r>
                      <a:r>
                        <a:rPr lang="ru-RU" sz="1200" b="1" dirty="0">
                          <a:solidFill>
                            <a:schemeClr val="accent3"/>
                          </a:solidFill>
                        </a:rPr>
                        <a:t>)</a:t>
                      </a:r>
                      <a:br>
                        <a:rPr lang="ru-RU" sz="1200" b="1" dirty="0">
                          <a:solidFill>
                            <a:schemeClr val="accent3"/>
                          </a:solidFill>
                        </a:rPr>
                      </a:br>
                      <a:endParaRPr lang="ru-RU" sz="12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Предпочтения пользователя (</a:t>
                      </a:r>
                      <a:r>
                        <a:rPr lang="en-US" sz="1200" b="1" kern="1200" dirty="0" err="1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user_weekend_ratio</a:t>
                      </a:r>
                      <a:r>
                        <a:rPr lang="ru-RU" sz="1200" b="1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200" b="1" kern="1200" dirty="0" err="1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user_shifts_on_same_day</a:t>
                      </a:r>
                      <a:r>
                        <a:rPr lang="ru-RU" sz="1200" b="1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..)</a:t>
                      </a:r>
                    </a:p>
                    <a:p>
                      <a:endParaRPr lang="ru-RU" sz="12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fontAlgn="ctr"/>
                      <a:endParaRPr lang="ru-RU" sz="10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636786"/>
                  </a:ext>
                </a:extLst>
              </a:tr>
              <a:tr h="2219786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dirty="0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>
                          <a:solidFill>
                            <a:schemeClr val="accent3"/>
                          </a:solidFill>
                        </a:rPr>
                        <a:t>признаки взаимодействия пользователя и смены (совпадает ли локация, удовлетворяет ли требованию наличия мед книжки и </a:t>
                      </a:r>
                      <a:r>
                        <a:rPr lang="ru-RU" sz="1200" b="1" dirty="0" err="1">
                          <a:solidFill>
                            <a:schemeClr val="accent3"/>
                          </a:solidFill>
                        </a:rPr>
                        <a:t>пр</a:t>
                      </a:r>
                      <a:r>
                        <a:rPr lang="ru-RU" sz="1200" b="1" dirty="0">
                          <a:solidFill>
                            <a:schemeClr val="accent3"/>
                          </a:solidFill>
                        </a:rPr>
                        <a:t>).</a:t>
                      </a:r>
                      <a:endParaRPr lang="ru-RU" altLang="ru-RU" sz="1200" b="1" dirty="0">
                        <a:solidFill>
                          <a:schemeClr val="accent3"/>
                        </a:solidFill>
                      </a:endParaRPr>
                    </a:p>
                    <a:p>
                      <a:pPr fontAlgn="ctr"/>
                      <a:endParaRPr lang="ru-RU" sz="12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200" b="1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Взаимодействие пользователя со сменой (</a:t>
                      </a:r>
                      <a:r>
                        <a:rPr lang="en-US" sz="1200" b="1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mk_match_2</a:t>
                      </a:r>
                      <a:r>
                        <a:rPr lang="ru-RU" sz="1200" b="1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200" b="1" kern="1200" dirty="0" err="1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location_match</a:t>
                      </a:r>
                      <a:r>
                        <a:rPr lang="ru-RU" sz="1200" b="1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…)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Исторические признаки пользователя (окно [T-30, T-2], </a:t>
                      </a:r>
                      <a:r>
                        <a:rPr lang="en-US" sz="1200" b="1" kern="1200" dirty="0" err="1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user_total_views</a:t>
                      </a:r>
                      <a:r>
                        <a:rPr lang="ru-RU" sz="1200" b="1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200" b="1" kern="1200" dirty="0" err="1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user_success_rate</a:t>
                      </a:r>
                      <a:r>
                        <a:rPr lang="ru-RU" sz="1200" b="1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…)</a:t>
                      </a:r>
                    </a:p>
                    <a:p>
                      <a:endParaRPr lang="ru-RU" sz="1200" b="1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fontAlgn="ctr"/>
                      <a:endParaRPr lang="ru-RU" sz="10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428697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914CA62-F18F-4C85-9C95-CF29D90F5D3B}"/>
              </a:ext>
            </a:extLst>
          </p:cNvPr>
          <p:cNvSpPr txBox="1"/>
          <p:nvPr/>
        </p:nvSpPr>
        <p:spPr>
          <a:xfrm>
            <a:off x="838201" y="1264778"/>
            <a:ext cx="4468737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400" b="1" dirty="0">
                <a:solidFill>
                  <a:schemeClr val="accent3"/>
                </a:solidFill>
              </a:rPr>
              <a:t>Общая информация: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altLang="ru-RU" sz="1400" b="1" dirty="0">
                <a:solidFill>
                  <a:schemeClr val="accent3"/>
                </a:solidFill>
              </a:rPr>
              <a:t>    Целевая переменная: </a:t>
            </a:r>
            <a:r>
              <a:rPr lang="ru-RU" altLang="ru-RU" sz="1400" b="1" dirty="0" err="1">
                <a:solidFill>
                  <a:schemeClr val="accent3"/>
                </a:solidFill>
              </a:rPr>
              <a:t>target</a:t>
            </a:r>
            <a:r>
              <a:rPr lang="ru-RU" altLang="ru-RU" sz="1400" b="1" dirty="0">
                <a:solidFill>
                  <a:schemeClr val="accent3"/>
                </a:solidFill>
              </a:rPr>
              <a:t> (1 - пользователь записался на смену, 0 - не записался)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altLang="ru-RU" sz="1400" b="1" dirty="0">
                <a:solidFill>
                  <a:schemeClr val="accent3"/>
                </a:solidFill>
              </a:rPr>
              <a:t>    Момент предсказания: за 2 дня до начала смены (</a:t>
            </a:r>
            <a:r>
              <a:rPr lang="ru-RU" altLang="ru-RU" sz="1400" b="1" dirty="0" err="1">
                <a:solidFill>
                  <a:schemeClr val="accent3"/>
                </a:solidFill>
              </a:rPr>
              <a:t>start_at</a:t>
            </a:r>
            <a:r>
              <a:rPr lang="ru-RU" altLang="ru-RU" sz="1400" b="1" dirty="0">
                <a:solidFill>
                  <a:schemeClr val="accent3"/>
                </a:solidFill>
              </a:rPr>
              <a:t> - 2 дня)</a:t>
            </a:r>
          </a:p>
          <a:p>
            <a:pPr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ru-RU" altLang="ru-RU" sz="1400" b="1" dirty="0">
                <a:solidFill>
                  <a:schemeClr val="accent3"/>
                </a:solidFill>
              </a:rPr>
              <a:t>Все исторические признаки используют только события с </a:t>
            </a:r>
            <a:r>
              <a:rPr lang="ru-RU" altLang="ru-RU" sz="1400" b="1" dirty="0" err="1">
                <a:solidFill>
                  <a:schemeClr val="accent3"/>
                </a:solidFill>
              </a:rPr>
              <a:t>ts</a:t>
            </a:r>
            <a:r>
              <a:rPr lang="ru-RU" altLang="ru-RU" sz="1400" b="1" dirty="0">
                <a:solidFill>
                  <a:schemeClr val="accent3"/>
                </a:solidFill>
              </a:rPr>
              <a:t> &lt; </a:t>
            </a:r>
            <a:r>
              <a:rPr lang="ru-RU" altLang="ru-RU" sz="1400" b="1" dirty="0" err="1">
                <a:solidFill>
                  <a:schemeClr val="accent3"/>
                </a:solidFill>
              </a:rPr>
              <a:t>start_at</a:t>
            </a:r>
            <a:r>
              <a:rPr lang="ru-RU" altLang="ru-RU" sz="1400" b="1" dirty="0">
                <a:solidFill>
                  <a:schemeClr val="accent3"/>
                </a:solidFill>
              </a:rPr>
              <a:t> - 2 дня</a:t>
            </a:r>
          </a:p>
          <a:p>
            <a:pPr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ru-RU" altLang="ru-RU" sz="1400" b="1" dirty="0">
                <a:solidFill>
                  <a:schemeClr val="accent3"/>
                </a:solidFill>
              </a:rPr>
              <a:t>Окно для исторических признаков - [T-30, T-2] (28 дней), кроме специально оговоренных случаев</a:t>
            </a:r>
          </a:p>
          <a:p>
            <a:pPr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ru-RU" altLang="ru-RU" sz="1400" b="1" dirty="0">
                <a:solidFill>
                  <a:schemeClr val="accent3"/>
                </a:solidFill>
              </a:rPr>
              <a:t>Основные категории сформированных признаков: </a:t>
            </a:r>
            <a:r>
              <a:rPr lang="ru-RU" sz="1400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</a:t>
            </a:r>
            <a:r>
              <a:rPr lang="ru-RU" sz="1400" dirty="0">
                <a:solidFill>
                  <a:srgbClr val="FFFFFF"/>
                </a:solidFill>
                <a:latin typeface="Roboto" panose="02000000000000000000" pitchFamily="2" charset="0"/>
              </a:rPr>
              <a:t>-</a:t>
            </a:r>
            <a:r>
              <a:rPr lang="ru-RU" sz="1400" b="1" dirty="0">
                <a:solidFill>
                  <a:schemeClr val="accent3"/>
                </a:solidFill>
              </a:rPr>
              <a:t> - связанные с уровнем оплаты, локацией, выходной/рабочий день и пр.)</a:t>
            </a:r>
            <a:br>
              <a:rPr lang="ru-RU" sz="1400" b="1" dirty="0">
                <a:solidFill>
                  <a:schemeClr val="accent3"/>
                </a:solidFill>
              </a:rPr>
            </a:br>
            <a:r>
              <a:rPr lang="ru-RU" sz="1400" b="1" dirty="0">
                <a:solidFill>
                  <a:schemeClr val="accent3"/>
                </a:solidFill>
              </a:rPr>
              <a:t>- признаки пользователя (его активность, наличие медкнижки и </a:t>
            </a:r>
            <a:r>
              <a:rPr lang="ru-RU" sz="1400" b="1" dirty="0" err="1">
                <a:solidFill>
                  <a:schemeClr val="accent3"/>
                </a:solidFill>
              </a:rPr>
              <a:t>пр</a:t>
            </a:r>
            <a:r>
              <a:rPr lang="ru-RU" sz="1400" b="1" dirty="0">
                <a:solidFill>
                  <a:schemeClr val="accent3"/>
                </a:solidFill>
              </a:rPr>
              <a:t>)</a:t>
            </a:r>
            <a:br>
              <a:rPr lang="ru-RU" sz="1400" b="1" dirty="0">
                <a:solidFill>
                  <a:schemeClr val="accent3"/>
                </a:solidFill>
              </a:rPr>
            </a:br>
            <a:r>
              <a:rPr lang="ru-RU" sz="1400" b="1" dirty="0">
                <a:solidFill>
                  <a:schemeClr val="accent3"/>
                </a:solidFill>
              </a:rPr>
              <a:t>- признаки взаимодействия пользователя и смены (совпадает ли локация, удовлетворяет ли требованию наличия мед книжки и </a:t>
            </a:r>
            <a:r>
              <a:rPr lang="ru-RU" sz="1400" b="1" dirty="0" err="1">
                <a:solidFill>
                  <a:schemeClr val="accent3"/>
                </a:solidFill>
              </a:rPr>
              <a:t>пр</a:t>
            </a:r>
            <a:r>
              <a:rPr lang="ru-RU" sz="1400" b="1" dirty="0">
                <a:solidFill>
                  <a:schemeClr val="accent3"/>
                </a:solidFill>
              </a:rPr>
              <a:t>).</a:t>
            </a:r>
            <a:endParaRPr lang="ru-RU" altLang="ru-RU" sz="1400" b="1" dirty="0">
              <a:solidFill>
                <a:schemeClr val="accent3"/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ru-RU" altLang="ru-RU" b="1" dirty="0">
              <a:solidFill>
                <a:schemeClr val="accent3"/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ru-RU" altLang="ru-RU" sz="1800" b="1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1594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4CA20B9-A4BE-47B0-9E59-C0464A4E9451}"/>
              </a:ext>
            </a:extLst>
          </p:cNvPr>
          <p:cNvSpPr/>
          <p:nvPr/>
        </p:nvSpPr>
        <p:spPr>
          <a:xfrm>
            <a:off x="838200" y="1690687"/>
            <a:ext cx="6288993" cy="480218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A762CB0C-E4F8-484C-8747-D8CBF6595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dirty="0"/>
              <a:t>Анализ времени между просмотром (VIEW) и </a:t>
            </a:r>
            <a:br>
              <a:rPr lang="ru-RU" sz="3600" dirty="0"/>
            </a:br>
            <a:r>
              <a:rPr lang="ru-RU" sz="3600" dirty="0"/>
              <a:t>началом смены (START_AT)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0B8A3B89-F34C-4867-BE78-440F313FF3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82766" y="1820254"/>
            <a:ext cx="5896598" cy="44655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u="none" strike="noStrike" dirty="0">
                <a:effectLst/>
              </a:rPr>
              <a:t>В целях определения даты прогнозирования был проведен анализ распределения показателя «количество дней между просмотром и стартом смены»</a:t>
            </a:r>
          </a:p>
          <a:p>
            <a:r>
              <a:rPr lang="ru-RU" sz="1800" b="1" u="none" strike="noStrike" dirty="0">
                <a:effectLst/>
              </a:rPr>
              <a:t>Анализ интервала: Просмотр ➔ Начало смены</a:t>
            </a:r>
            <a:endParaRPr lang="ru-RU" sz="1800" b="0" u="none" strike="noStrike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800" b="1" u="none" strike="noStrike" dirty="0">
                <a:effectLst/>
              </a:rPr>
              <a:t>Пик распределения:</a:t>
            </a:r>
            <a:r>
              <a:rPr lang="ru-RU" sz="1800" b="0" u="none" strike="noStrike" dirty="0">
                <a:effectLst/>
              </a:rPr>
              <a:t> 2-й день после просмотра.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b="1" u="none" strike="noStrike" dirty="0">
                <a:effectLst/>
              </a:rPr>
              <a:t>Скорость отклика:</a:t>
            </a:r>
            <a:r>
              <a:rPr lang="ru-RU" sz="1800" b="0" u="none" strike="noStrike" dirty="0">
                <a:effectLst/>
              </a:rPr>
              <a:t> Медиана — </a:t>
            </a:r>
            <a:r>
              <a:rPr lang="ru-RU" sz="1800" b="1" u="none" strike="noStrike" dirty="0">
                <a:effectLst/>
              </a:rPr>
              <a:t>2 дня</a:t>
            </a:r>
            <a:r>
              <a:rPr lang="ru-RU" sz="1800" b="0" u="none" strike="noStrike" dirty="0">
                <a:effectLst/>
              </a:rPr>
              <a:t>, среднее — </a:t>
            </a:r>
            <a:r>
              <a:rPr lang="ru-RU" sz="1800" b="1" u="none" strike="noStrike" dirty="0">
                <a:effectLst/>
              </a:rPr>
              <a:t>4.4 дня</a:t>
            </a:r>
            <a:r>
              <a:rPr lang="ru-RU" sz="1800" b="0" u="none" strike="noStrike" dirty="0">
                <a:effectLst/>
              </a:rPr>
              <a:t>.</a:t>
            </a:r>
          </a:p>
          <a:p>
            <a:pPr marL="0" indent="252000">
              <a:lnSpc>
                <a:spcPct val="120000"/>
              </a:lnSpc>
              <a:buNone/>
            </a:pPr>
            <a:r>
              <a:rPr lang="ru-RU" sz="1800" b="0" i="0" dirty="0">
                <a:effectLst/>
              </a:rPr>
              <a:t>Предлагаем делать прогноз за 2 дня до старта смены (медиана кол-ва дней между просмотрами и стартом смены). Так из экстренного режима поиска исполнителей можно перейти в режим оптимизированного поиска заранее, до смены.</a:t>
            </a:r>
            <a:endParaRPr lang="ru-RU" sz="1800" dirty="0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B32D6B8F-F0A2-4FA2-94D1-B178090A53F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" r="65873"/>
          <a:stretch/>
        </p:blipFill>
        <p:spPr>
          <a:xfrm>
            <a:off x="7349384" y="1650094"/>
            <a:ext cx="2632103" cy="2485382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B80649C1-B736-42B2-9A4B-91903CA799F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65" r="-1294"/>
          <a:stretch/>
        </p:blipFill>
        <p:spPr>
          <a:xfrm>
            <a:off x="8714572" y="4258938"/>
            <a:ext cx="2639228" cy="248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23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350B02-5C4A-40FF-B5BC-FB7FDAF17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9653"/>
          </a:xfrm>
        </p:spPr>
        <p:txBody>
          <a:bodyPr>
            <a:noAutofit/>
          </a:bodyPr>
          <a:lstStyle/>
          <a:p>
            <a:pPr algn="l"/>
            <a:r>
              <a:rPr lang="ru-RU" sz="3600" i="0" dirty="0">
                <a:effectLst/>
              </a:rPr>
              <a:t>Анализ количества дней между просмотрами и стартом смены по типам задач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126A049-7A6B-4074-A262-F412C54B8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071" y="1264778"/>
            <a:ext cx="7356837" cy="34521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687198-5B22-4383-B6C4-63EE4F8181C2}"/>
              </a:ext>
            </a:extLst>
          </p:cNvPr>
          <p:cNvSpPr txBox="1"/>
          <p:nvPr/>
        </p:nvSpPr>
        <p:spPr>
          <a:xfrm>
            <a:off x="838200" y="4826675"/>
            <a:ext cx="9583729" cy="192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b="0" i="0" dirty="0">
                <a:solidFill>
                  <a:schemeClr val="accent3"/>
                </a:solidFill>
                <a:effectLst/>
                <a:latin typeface="system-ui"/>
              </a:rPr>
              <a:t>Видим, что разные типы задач имеют разные значения медианы и среднего значения кол-ва дней между просмотрами и стартом смены.</a:t>
            </a:r>
          </a:p>
          <a:p>
            <a:pPr marL="0" indent="252000">
              <a:lnSpc>
                <a:spcPct val="120000"/>
              </a:lnSpc>
              <a:buNone/>
            </a:pPr>
            <a:r>
              <a:rPr lang="ru-RU" dirty="0">
                <a:solidFill>
                  <a:schemeClr val="accent3"/>
                </a:solidFill>
                <a:latin typeface="system-ui"/>
              </a:rPr>
              <a:t>Предлагаем делать прогноз за 2 дня до старта смены (медиана кол-ва дней между просмотрами и стартом смены). Так из экстренного режима поиска исполнителей можно перейти в режим оптимизированного поиска заранее, до смены.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4840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A11EA65-850A-48BF-BEC3-BDAAD0AA4699}"/>
              </a:ext>
            </a:extLst>
          </p:cNvPr>
          <p:cNvSpPr/>
          <p:nvPr/>
        </p:nvSpPr>
        <p:spPr>
          <a:xfrm>
            <a:off x="624840" y="1690688"/>
            <a:ext cx="4770120" cy="480166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FA50B518-9F5E-4240-B9CB-4B749934042D}"/>
              </a:ext>
            </a:extLst>
          </p:cNvPr>
          <p:cNvSpPr/>
          <p:nvPr/>
        </p:nvSpPr>
        <p:spPr>
          <a:xfrm>
            <a:off x="5662442" y="729706"/>
            <a:ext cx="6361491" cy="576264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AA37D3-2419-4485-ADB0-A7DF4D5C1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Анализ взаимосвязи признаков (Корреляционная матрица)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1EF8F98-1DCF-4628-A037-D140204E38E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0247" b="-10247"/>
          <a:stretch/>
        </p:blipFill>
        <p:spPr>
          <a:xfrm>
            <a:off x="5884490" y="546881"/>
            <a:ext cx="5917394" cy="6128293"/>
          </a:xfrm>
        </p:spPr>
      </p:pic>
      <p:sp>
        <p:nvSpPr>
          <p:cNvPr id="19" name="Rectangle 8">
            <a:extLst>
              <a:ext uri="{FF2B5EF4-FFF2-40B4-BE49-F238E27FC236}">
                <a16:creationId xmlns:a16="http://schemas.microsoft.com/office/drawing/2014/main" id="{C7065014-72CE-4485-B69F-369B0D99E8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45873"/>
            <a:ext cx="4391826" cy="4739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altLang="ru-RU" sz="1400" b="1" dirty="0">
                <a:solidFill>
                  <a:schemeClr val="bg1"/>
                </a:solidFill>
              </a:rPr>
              <a:t>Методология: </a:t>
            </a:r>
            <a:r>
              <a:rPr lang="ru-RU" altLang="ru-RU" sz="1400" dirty="0">
                <a:solidFill>
                  <a:schemeClr val="bg1"/>
                </a:solidFill>
              </a:rPr>
              <a:t>Из пар с высокой </a:t>
            </a:r>
            <a:r>
              <a:rPr lang="ru-RU" altLang="ru-RU" sz="1400" dirty="0" err="1">
                <a:solidFill>
                  <a:schemeClr val="bg1"/>
                </a:solidFill>
              </a:rPr>
              <a:t>коллинеарностью</a:t>
            </a:r>
            <a:r>
              <a:rPr lang="ru-RU" altLang="ru-RU" sz="1400" dirty="0">
                <a:solidFill>
                  <a:schemeClr val="bg1"/>
                </a:solidFill>
              </a:rPr>
              <a:t> (&gt;0.8) удаляются избыточные признаки. Критерий отбора — более высокая корреляция с целевой переменной (</a:t>
            </a:r>
            <a:r>
              <a:rPr lang="ru-RU" altLang="ru-RU" sz="1400" dirty="0" err="1">
                <a:solidFill>
                  <a:schemeClr val="bg1"/>
                </a:solidFill>
              </a:rPr>
              <a:t>target</a:t>
            </a:r>
            <a:r>
              <a:rPr lang="ru-RU" altLang="ru-RU" sz="1400" dirty="0">
                <a:solidFill>
                  <a:schemeClr val="bg1"/>
                </a:solidFill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altLang="ru-RU" sz="1400" b="1" dirty="0">
                <a:solidFill>
                  <a:schemeClr val="bg1"/>
                </a:solidFill>
              </a:rPr>
              <a:t>Результаты фильтрации (что оставляем):</a:t>
            </a:r>
          </a:p>
          <a:p>
            <a:pPr marL="3240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ru-RU" altLang="ru-RU" sz="1400" dirty="0" err="1">
                <a:solidFill>
                  <a:schemeClr val="bg1"/>
                </a:solidFill>
              </a:rPr>
              <a:t>user_success_rate</a:t>
            </a:r>
            <a:r>
              <a:rPr lang="ru-RU" altLang="ru-RU" sz="1400" dirty="0">
                <a:solidFill>
                  <a:schemeClr val="bg1"/>
                </a:solidFill>
              </a:rPr>
              <a:t> (вместо </a:t>
            </a:r>
            <a:r>
              <a:rPr lang="ru-RU" altLang="ru-RU" sz="1400" dirty="0" err="1">
                <a:solidFill>
                  <a:schemeClr val="bg1"/>
                </a:solidFill>
              </a:rPr>
              <a:t>user_total_successful_actions</a:t>
            </a:r>
            <a:r>
              <a:rPr lang="ru-RU" altLang="ru-RU" sz="1400" dirty="0">
                <a:solidFill>
                  <a:schemeClr val="bg1"/>
                </a:solidFill>
              </a:rPr>
              <a:t>, </a:t>
            </a:r>
            <a:r>
              <a:rPr lang="ru-RU" altLang="ru-RU" sz="1400" dirty="0" err="1">
                <a:solidFill>
                  <a:schemeClr val="bg1"/>
                </a:solidFill>
              </a:rPr>
              <a:t>corr</a:t>
            </a:r>
            <a:r>
              <a:rPr lang="ru-RU" altLang="ru-RU" sz="1400" dirty="0">
                <a:solidFill>
                  <a:schemeClr val="bg1"/>
                </a:solidFill>
              </a:rPr>
              <a:t>: 0.1793).</a:t>
            </a:r>
          </a:p>
          <a:p>
            <a:pPr marL="3240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ru-RU" altLang="ru-RU" sz="1400" dirty="0" err="1">
                <a:solidFill>
                  <a:schemeClr val="bg1"/>
                </a:solidFill>
              </a:rPr>
              <a:t>has_apply_before</a:t>
            </a:r>
            <a:r>
              <a:rPr lang="ru-RU" altLang="ru-RU" sz="1400" dirty="0">
                <a:solidFill>
                  <a:schemeClr val="bg1"/>
                </a:solidFill>
              </a:rPr>
              <a:t> (вместо </a:t>
            </a:r>
            <a:r>
              <a:rPr lang="ru-RU" altLang="ru-RU" sz="1400" dirty="0" err="1">
                <a:solidFill>
                  <a:schemeClr val="bg1"/>
                </a:solidFill>
              </a:rPr>
              <a:t>is_full_and_has_apply</a:t>
            </a:r>
            <a:r>
              <a:rPr lang="ru-RU" altLang="ru-RU" sz="1400" dirty="0">
                <a:solidFill>
                  <a:schemeClr val="bg1"/>
                </a:solidFill>
              </a:rPr>
              <a:t>, </a:t>
            </a:r>
            <a:r>
              <a:rPr lang="ru-RU" altLang="ru-RU" sz="1400" dirty="0" err="1">
                <a:solidFill>
                  <a:schemeClr val="bg1"/>
                </a:solidFill>
              </a:rPr>
              <a:t>corr</a:t>
            </a:r>
            <a:r>
              <a:rPr lang="ru-RU" altLang="ru-RU" sz="1400" dirty="0">
                <a:solidFill>
                  <a:schemeClr val="bg1"/>
                </a:solidFill>
              </a:rPr>
              <a:t>: 0.6409).</a:t>
            </a:r>
          </a:p>
          <a:p>
            <a:pPr marL="3240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ru-RU" altLang="ru-RU" sz="1400" dirty="0" err="1">
                <a:solidFill>
                  <a:schemeClr val="bg1"/>
                </a:solidFill>
              </a:rPr>
              <a:t>user_avg_reward_per_hour</a:t>
            </a:r>
            <a:r>
              <a:rPr lang="ru-RU" altLang="ru-RU" sz="1400" dirty="0">
                <a:solidFill>
                  <a:schemeClr val="bg1"/>
                </a:solidFill>
              </a:rPr>
              <a:t> (вместо </a:t>
            </a:r>
            <a:r>
              <a:rPr lang="ru-RU" altLang="ru-RU" sz="1400" dirty="0" err="1">
                <a:solidFill>
                  <a:schemeClr val="bg1"/>
                </a:solidFill>
              </a:rPr>
              <a:t>user_high_paid_ratio</a:t>
            </a:r>
            <a:r>
              <a:rPr lang="ru-RU" altLang="ru-RU" sz="1400" dirty="0">
                <a:solidFill>
                  <a:schemeClr val="bg1"/>
                </a:solidFill>
              </a:rPr>
              <a:t>, </a:t>
            </a:r>
            <a:r>
              <a:rPr lang="ru-RU" altLang="ru-RU" sz="1400" dirty="0" err="1">
                <a:solidFill>
                  <a:schemeClr val="bg1"/>
                </a:solidFill>
              </a:rPr>
              <a:t>corr</a:t>
            </a:r>
            <a:r>
              <a:rPr lang="ru-RU" altLang="ru-RU" sz="1400" dirty="0">
                <a:solidFill>
                  <a:schemeClr val="bg1"/>
                </a:solidFill>
              </a:rPr>
              <a:t>: 0.0192).</a:t>
            </a:r>
          </a:p>
          <a:p>
            <a:pPr marL="3240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ru-RU" altLang="ru-RU" sz="1400" dirty="0" err="1">
                <a:solidFill>
                  <a:schemeClr val="bg1"/>
                </a:solidFill>
              </a:rPr>
              <a:t>reward_per_hour</a:t>
            </a:r>
            <a:r>
              <a:rPr lang="ru-RU" altLang="ru-RU" sz="1400" dirty="0">
                <a:solidFill>
                  <a:schemeClr val="bg1"/>
                </a:solidFill>
              </a:rPr>
              <a:t> (вместо </a:t>
            </a:r>
            <a:r>
              <a:rPr lang="ru-RU" altLang="ru-RU" sz="1400" dirty="0" err="1">
                <a:solidFill>
                  <a:schemeClr val="bg1"/>
                </a:solidFill>
              </a:rPr>
              <a:t>is_high_paid_window</a:t>
            </a:r>
            <a:r>
              <a:rPr lang="ru-RU" altLang="ru-RU" sz="1400" dirty="0">
                <a:solidFill>
                  <a:schemeClr val="bg1"/>
                </a:solidFill>
              </a:rPr>
              <a:t>, сохранен базовый признак).</a:t>
            </a:r>
          </a:p>
          <a:p>
            <a:pPr marL="3240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ru-RU" altLang="ru-RU" sz="1400" dirty="0" err="1">
                <a:solidFill>
                  <a:schemeClr val="bg1"/>
                </a:solidFill>
              </a:rPr>
              <a:t>user_total_views</a:t>
            </a:r>
            <a:r>
              <a:rPr lang="ru-RU" altLang="ru-RU" sz="1400" dirty="0">
                <a:solidFill>
                  <a:schemeClr val="bg1"/>
                </a:solidFill>
              </a:rPr>
              <a:t> (вместо </a:t>
            </a:r>
            <a:r>
              <a:rPr lang="ru-RU" altLang="ru-RU" sz="1400" dirty="0" err="1">
                <a:solidFill>
                  <a:schemeClr val="bg1"/>
                </a:solidFill>
              </a:rPr>
              <a:t>user_active_days</a:t>
            </a:r>
            <a:r>
              <a:rPr lang="ru-RU" altLang="ru-RU" sz="1400" dirty="0">
                <a:solidFill>
                  <a:schemeClr val="bg1"/>
                </a:solidFill>
              </a:rPr>
              <a:t>, </a:t>
            </a:r>
            <a:r>
              <a:rPr lang="ru-RU" altLang="ru-RU" sz="1400" dirty="0" err="1">
                <a:solidFill>
                  <a:schemeClr val="bg1"/>
                </a:solidFill>
              </a:rPr>
              <a:t>corr</a:t>
            </a:r>
            <a:r>
              <a:rPr lang="ru-RU" altLang="ru-RU" sz="1400" dirty="0">
                <a:solidFill>
                  <a:schemeClr val="bg1"/>
                </a:solidFill>
              </a:rPr>
              <a:t> по модулю выше: -0.1085).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altLang="ru-RU" sz="1400" b="1" dirty="0">
                <a:solidFill>
                  <a:schemeClr val="bg1"/>
                </a:solidFill>
              </a:rPr>
              <a:t>Исключение: </a:t>
            </a:r>
            <a:r>
              <a:rPr lang="ru-RU" altLang="ru-RU" sz="1400" dirty="0">
                <a:solidFill>
                  <a:schemeClr val="bg1"/>
                </a:solidFill>
              </a:rPr>
              <a:t>Пару </a:t>
            </a:r>
            <a:r>
              <a:rPr lang="ru-RU" altLang="ru-RU" sz="1400" dirty="0" err="1">
                <a:solidFill>
                  <a:schemeClr val="bg1"/>
                </a:solidFill>
              </a:rPr>
              <a:t>free_spots_at_prediction</a:t>
            </a:r>
            <a:r>
              <a:rPr lang="ru-RU" altLang="ru-RU" sz="1400" dirty="0">
                <a:solidFill>
                  <a:schemeClr val="bg1"/>
                </a:solidFill>
              </a:rPr>
              <a:t> и </a:t>
            </a:r>
            <a:r>
              <a:rPr lang="ru-RU" altLang="ru-RU" sz="1400" dirty="0" err="1">
                <a:solidFill>
                  <a:schemeClr val="bg1"/>
                </a:solidFill>
              </a:rPr>
              <a:t>is_full_at_prediction</a:t>
            </a:r>
            <a:r>
              <a:rPr lang="ru-RU" altLang="ru-RU" sz="1400" dirty="0">
                <a:solidFill>
                  <a:schemeClr val="bg1"/>
                </a:solidFill>
              </a:rPr>
              <a:t> оставляем целиком. Несмотря на высокую корреляцию (-0.85), они имеют разнонаправленную связь с </a:t>
            </a:r>
            <a:r>
              <a:rPr lang="ru-RU" altLang="ru-RU" sz="1400" dirty="0" err="1">
                <a:solidFill>
                  <a:schemeClr val="bg1"/>
                </a:solidFill>
              </a:rPr>
              <a:t>таргетом</a:t>
            </a:r>
            <a:r>
              <a:rPr lang="ru-RU" altLang="ru-RU" sz="1400" dirty="0">
                <a:solidFill>
                  <a:schemeClr val="bg1"/>
                </a:solidFill>
              </a:rPr>
              <a:t> и несут уникальный сигнал.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altLang="ru-RU" sz="1400" b="1" dirty="0">
                <a:solidFill>
                  <a:schemeClr val="bg1"/>
                </a:solidFill>
              </a:rPr>
              <a:t>Итог: </a:t>
            </a:r>
            <a:r>
              <a:rPr lang="ru-RU" altLang="ru-RU" sz="1400" dirty="0">
                <a:solidFill>
                  <a:schemeClr val="bg1"/>
                </a:solidFill>
              </a:rPr>
              <a:t>Редукция данных снизит переобучение модели и уберет шум без потери качества прогноза. </a:t>
            </a:r>
          </a:p>
        </p:txBody>
      </p:sp>
    </p:spTree>
    <p:extLst>
      <p:ext uri="{BB962C8B-B14F-4D97-AF65-F5344CB8AC3E}">
        <p14:creationId xmlns:p14="http://schemas.microsoft.com/office/powerpoint/2010/main" val="2506345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5A096D-29B7-4685-B4F0-B2ABB3E49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Статистический анализ признаков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A479E7-CAFE-465E-8052-88D02A81E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63880"/>
            <a:ext cx="5340409" cy="4683095"/>
          </a:xfrm>
          <a:solidFill>
            <a:schemeClr val="accent3"/>
          </a:solidFill>
        </p:spPr>
        <p:txBody>
          <a:bodyPr>
            <a:normAutofit fontScale="25000" lnSpcReduction="20000"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altLang="ru-RU" sz="4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Анализ признаков: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sz="4000" b="0" i="0" dirty="0">
                <a:solidFill>
                  <a:schemeClr val="bg1"/>
                </a:solidFill>
                <a:effectLst/>
              </a:rPr>
              <a:t>Практически детерминированные предикторы: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4000" b="0" i="0" dirty="0" err="1">
                <a:solidFill>
                  <a:schemeClr val="bg1"/>
                </a:solidFill>
                <a:effectLst/>
              </a:rPr>
              <a:t>has_apply_before</a:t>
            </a:r>
            <a:r>
              <a:rPr lang="en-US" sz="4000" b="0" i="0" dirty="0">
                <a:solidFill>
                  <a:schemeClr val="bg1"/>
                </a:solidFill>
                <a:effectLst/>
              </a:rPr>
              <a:t> = 1</a:t>
            </a:r>
            <a:r>
              <a:rPr lang="ru-RU" sz="4000" dirty="0">
                <a:solidFill>
                  <a:schemeClr val="bg1"/>
                </a:solidFill>
              </a:rPr>
              <a:t> =</a:t>
            </a:r>
            <a:r>
              <a:rPr lang="en-US" sz="4000" dirty="0">
                <a:solidFill>
                  <a:schemeClr val="bg1"/>
                </a:solidFill>
              </a:rPr>
              <a:t>&gt; </a:t>
            </a:r>
            <a:r>
              <a:rPr lang="en-US" sz="4000" b="0" i="0" dirty="0">
                <a:solidFill>
                  <a:schemeClr val="bg1"/>
                </a:solidFill>
                <a:effectLst/>
              </a:rPr>
              <a:t>target = 100%,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ru-RU" sz="4000" b="0" i="0" dirty="0">
                <a:solidFill>
                  <a:schemeClr val="bg1"/>
                </a:solidFill>
                <a:effectLst/>
              </a:rPr>
              <a:t>Если пользователь уже записался на эту смену, он гарантированно выйдет</a:t>
            </a:r>
            <a:r>
              <a:rPr lang="en-US" sz="4000" dirty="0">
                <a:solidFill>
                  <a:schemeClr val="bg1"/>
                </a:solidFill>
              </a:rPr>
              <a:t>.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4000" b="0" i="0" dirty="0" err="1">
                <a:solidFill>
                  <a:schemeClr val="bg1"/>
                </a:solidFill>
                <a:effectLst/>
              </a:rPr>
              <a:t>user_shifts_on_same_day</a:t>
            </a:r>
            <a:r>
              <a:rPr lang="en-US" sz="4000" b="0" i="0" dirty="0">
                <a:solidFill>
                  <a:schemeClr val="bg1"/>
                </a:solidFill>
                <a:effectLst/>
              </a:rPr>
              <a:t> = -1</a:t>
            </a:r>
            <a:r>
              <a:rPr lang="en-US" sz="4000" dirty="0">
                <a:solidFill>
                  <a:schemeClr val="bg1"/>
                </a:solidFill>
              </a:rPr>
              <a:t> =&gt;</a:t>
            </a:r>
            <a:r>
              <a:rPr lang="ru-RU" sz="4000" dirty="0">
                <a:solidFill>
                  <a:schemeClr val="bg1"/>
                </a:solidFill>
              </a:rPr>
              <a:t> </a:t>
            </a:r>
            <a:r>
              <a:rPr lang="en-US" sz="4000" b="0" i="0" dirty="0">
                <a:solidFill>
                  <a:schemeClr val="bg1"/>
                </a:solidFill>
                <a:effectLst/>
              </a:rPr>
              <a:t>target = 100%</a:t>
            </a:r>
            <a:r>
              <a:rPr lang="ru-RU" sz="4000" dirty="0">
                <a:solidFill>
                  <a:schemeClr val="bg1"/>
                </a:solidFill>
              </a:rPr>
              <a:t>, </a:t>
            </a:r>
            <a:r>
              <a:rPr lang="ru-RU" sz="4000" b="0" i="0" dirty="0">
                <a:solidFill>
                  <a:schemeClr val="bg1"/>
                </a:solidFill>
                <a:effectLst/>
              </a:rPr>
              <a:t>Пользователь уже записан на эту смену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b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</a:br>
            <a:r>
              <a:rPr lang="ru-RU" altLang="ru-RU" sz="4000" dirty="0">
                <a:solidFill>
                  <a:schemeClr val="bg1"/>
                </a:solidFill>
              </a:rPr>
              <a:t>Нужно выводить рекомендацию наиболее вероятным пользователям. При том среди наиболее вероятных пользователей будут те, кто уже к моменту прогноза записался на смену.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sz="4000" dirty="0">
              <a:solidFill>
                <a:schemeClr val="bg1"/>
              </a:solidFill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4000" dirty="0">
                <a:solidFill>
                  <a:schemeClr val="bg1"/>
                </a:solidFill>
              </a:rPr>
              <a:t>Парадокс популярных смен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ru-RU" altLang="ru-RU" sz="4000" dirty="0" err="1">
                <a:solidFill>
                  <a:schemeClr val="bg1"/>
                </a:solidFill>
              </a:rPr>
              <a:t>shift_total_views</a:t>
            </a:r>
            <a:r>
              <a:rPr lang="ru-RU" altLang="ru-RU" sz="4000" dirty="0">
                <a:solidFill>
                  <a:schemeClr val="bg1"/>
                </a:solidFill>
              </a:rPr>
              <a:t> имеет отрицательную корреляцию (-0.0768)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4000" dirty="0">
                <a:solidFill>
                  <a:schemeClr val="bg1"/>
                </a:solidFill>
              </a:rPr>
              <a:t>Чем больше просмотров, тем ниже вероятность записи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4000" dirty="0">
                <a:solidFill>
                  <a:schemeClr val="bg1"/>
                </a:solidFill>
              </a:rPr>
              <a:t>Вероятная причина: популярные смены быстро заполняются, и пользователь не успевает записаться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4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Многократный просмотр - негативный сигнал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view_count_for_shift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 имеет отрицательную корреляцию (-0.0738)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Пользователь, который многократно просматривает смену, но не записывается, вероятно, </a:t>
            </a:r>
            <a:r>
              <a:rPr kumimoji="0" lang="ru-RU" altLang="ru-RU" sz="4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колеблется или отказался осознанно</a:t>
            </a:r>
            <a:endParaRPr kumimoji="0" lang="ru-RU" altLang="ru-RU" sz="4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4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Очень короткие смены (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matches_short_shift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= 1)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Даёт аномально высокое значение целевой переменной (25.53%)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Но таких смен всего 47 - </a:t>
            </a:r>
            <a:r>
              <a:rPr kumimoji="0" lang="ru-RU" altLang="ru-RU" sz="4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статистический артефакт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 не полагаться на этот признак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4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Опыт важнее общей активности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user_employer_experience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 (6.21%) и 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user_task_type_experience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 (5.93%) дают более высокое значение целевой переменной, чем пользователи с высоким 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user_success_rate</a:t>
            </a:r>
            <a:endParaRPr kumimoji="0" lang="ru-RU" altLang="ru-RU" sz="4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altLang="ru-RU" sz="4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Вывод: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 точечный опыт важнее общей статистики успехов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4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Признак mk_match_2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0 (книжка нужна, но нет): 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target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= 0.00% (8,532 смены)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1 (книжка нужна и есть): 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target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= 2.19%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2 (книжка не нужна): 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target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= 2.91%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altLang="ru-RU" sz="4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Вывод: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 отсутствие необходимой медкнижки полностью исключает возможность записи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5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0FECB7A-3423-4302-B721-BAF738EE7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6451296"/>
            <a:ext cx="65" cy="1335979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2797568" rIns="0" bIns="1587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8E340098-8772-447C-9830-44538E402E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4874164"/>
              </p:ext>
            </p:extLst>
          </p:nvPr>
        </p:nvGraphicFramePr>
        <p:xfrm>
          <a:off x="6233874" y="1563878"/>
          <a:ext cx="5567868" cy="471435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57438">
                  <a:extLst>
                    <a:ext uri="{9D8B030D-6E8A-4147-A177-3AD203B41FA5}">
                      <a16:colId xmlns:a16="http://schemas.microsoft.com/office/drawing/2014/main" val="4084476360"/>
                    </a:ext>
                  </a:extLst>
                </a:gridCol>
                <a:gridCol w="1722842">
                  <a:extLst>
                    <a:ext uri="{9D8B030D-6E8A-4147-A177-3AD203B41FA5}">
                      <a16:colId xmlns:a16="http://schemas.microsoft.com/office/drawing/2014/main" val="3287562049"/>
                    </a:ext>
                  </a:extLst>
                </a:gridCol>
                <a:gridCol w="3287588">
                  <a:extLst>
                    <a:ext uri="{9D8B030D-6E8A-4147-A177-3AD203B41FA5}">
                      <a16:colId xmlns:a16="http://schemas.microsoft.com/office/drawing/2014/main" val="3624945889"/>
                    </a:ext>
                  </a:extLst>
                </a:gridCol>
              </a:tblGrid>
              <a:tr h="334507">
                <a:tc gridSpan="3">
                  <a:txBody>
                    <a:bodyPr/>
                    <a:lstStyle/>
                    <a:p>
                      <a:r>
                        <a:rPr lang="ru-RU" dirty="0"/>
                        <a:t>Топ 12 признаков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9652466"/>
                  </a:ext>
                </a:extLst>
              </a:tr>
              <a:tr h="334507">
                <a:tc>
                  <a:txBody>
                    <a:bodyPr/>
                    <a:lstStyle/>
                    <a:p>
                      <a:pPr fontAlgn="ctr"/>
                      <a:r>
                        <a:rPr lang="ru-RU" sz="900" b="1">
                          <a:effectLst/>
                        </a:rPr>
                        <a:t>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900" b="1">
                          <a:effectLst/>
                        </a:rPr>
                        <a:t>Признак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900" b="1" dirty="0">
                          <a:effectLst/>
                        </a:rPr>
                        <a:t>Обоснование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5914798"/>
                  </a:ext>
                </a:extLst>
              </a:tr>
              <a:tr h="334507">
                <a:tc>
                  <a:txBody>
                    <a:bodyPr/>
                    <a:lstStyle/>
                    <a:p>
                      <a:pPr fontAlgn="ctr"/>
                      <a:r>
                        <a:rPr lang="ru-RU" sz="90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900">
                          <a:effectLst/>
                        </a:rPr>
                        <a:t>user_success_rate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900">
                          <a:effectLst/>
                        </a:rPr>
                        <a:t>Самый сильный непрерывный признак (0.2838)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3861339"/>
                  </a:ext>
                </a:extLst>
              </a:tr>
              <a:tr h="334507">
                <a:tc>
                  <a:txBody>
                    <a:bodyPr/>
                    <a:lstStyle/>
                    <a:p>
                      <a:pPr fontAlgn="ctr"/>
                      <a:r>
                        <a:rPr lang="ru-RU" sz="900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900">
                          <a:effectLst/>
                        </a:rPr>
                        <a:t>user_successful_actions_last_7d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900" dirty="0">
                          <a:effectLst/>
                        </a:rPr>
                        <a:t>Свежая активность (0.2047)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4351506"/>
                  </a:ext>
                </a:extLst>
              </a:tr>
              <a:tr h="334507">
                <a:tc>
                  <a:txBody>
                    <a:bodyPr/>
                    <a:lstStyle/>
                    <a:p>
                      <a:pPr fontAlgn="ctr"/>
                      <a:r>
                        <a:rPr lang="ru-RU" sz="900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900">
                          <a:effectLst/>
                        </a:rPr>
                        <a:t>user_employer_experience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900" dirty="0">
                          <a:effectLst/>
                        </a:rPr>
                        <a:t>V-</a:t>
                      </a:r>
                      <a:r>
                        <a:rPr lang="ru-RU" sz="900" dirty="0">
                          <a:effectLst/>
                        </a:rPr>
                        <a:t>коэффициент Крамера </a:t>
                      </a:r>
                      <a:r>
                        <a:rPr lang="en-US" sz="900" dirty="0">
                          <a:effectLst/>
                        </a:rPr>
                        <a:t>V = 0.1606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5413386"/>
                  </a:ext>
                </a:extLst>
              </a:tr>
              <a:tr h="334507">
                <a:tc>
                  <a:txBody>
                    <a:bodyPr/>
                    <a:lstStyle/>
                    <a:p>
                      <a:pPr fontAlgn="ctr"/>
                      <a:r>
                        <a:rPr lang="ru-RU" sz="900">
                          <a:effectLst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900">
                          <a:effectLst/>
                        </a:rPr>
                        <a:t>matches_location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900" dirty="0">
                          <a:effectLst/>
                        </a:rPr>
                        <a:t>V-</a:t>
                      </a:r>
                      <a:r>
                        <a:rPr lang="ru-RU" sz="900" dirty="0">
                          <a:effectLst/>
                        </a:rPr>
                        <a:t>коэффициент Крамера = 0.1531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7127034"/>
                  </a:ext>
                </a:extLst>
              </a:tr>
              <a:tr h="334507">
                <a:tc>
                  <a:txBody>
                    <a:bodyPr/>
                    <a:lstStyle/>
                    <a:p>
                      <a:pPr fontAlgn="ctr"/>
                      <a:r>
                        <a:rPr lang="ru-RU" sz="900">
                          <a:effectLst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900">
                          <a:effectLst/>
                        </a:rPr>
                        <a:t>user_task_type_experience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900">
                          <a:effectLst/>
                        </a:rPr>
                        <a:t>V-</a:t>
                      </a:r>
                      <a:r>
                        <a:rPr lang="ru-RU" sz="900">
                          <a:effectLst/>
                        </a:rPr>
                        <a:t>коэффициент Крамера = 0.1512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8592215"/>
                  </a:ext>
                </a:extLst>
              </a:tr>
              <a:tr h="334507">
                <a:tc>
                  <a:txBody>
                    <a:bodyPr/>
                    <a:lstStyle/>
                    <a:p>
                      <a:pPr fontAlgn="ctr"/>
                      <a:r>
                        <a:rPr lang="ru-RU" sz="900">
                          <a:effectLst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900">
                          <a:effectLst/>
                        </a:rPr>
                        <a:t>user_location_experience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900">
                          <a:effectLst/>
                        </a:rPr>
                        <a:t>Корреляция 0.1336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215290"/>
                  </a:ext>
                </a:extLst>
              </a:tr>
              <a:tr h="334507">
                <a:tc>
                  <a:txBody>
                    <a:bodyPr/>
                    <a:lstStyle/>
                    <a:p>
                      <a:pPr fontAlgn="ctr"/>
                      <a:r>
                        <a:rPr lang="ru-RU" sz="900">
                          <a:effectLst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900" dirty="0" err="1">
                          <a:effectLst/>
                        </a:rPr>
                        <a:t>matches_high_paid</a:t>
                      </a:r>
                      <a:endParaRPr lang="en-US" sz="9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900" dirty="0">
                          <a:effectLst/>
                        </a:rPr>
                        <a:t>V-</a:t>
                      </a:r>
                      <a:r>
                        <a:rPr lang="ru-RU" sz="900" dirty="0">
                          <a:effectLst/>
                        </a:rPr>
                        <a:t>коэффициент Крамера = 0.1228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6979642"/>
                  </a:ext>
                </a:extLst>
              </a:tr>
              <a:tr h="334507">
                <a:tc>
                  <a:txBody>
                    <a:bodyPr/>
                    <a:lstStyle/>
                    <a:p>
                      <a:pPr fontAlgn="ctr"/>
                      <a:r>
                        <a:rPr lang="ru-RU" sz="900">
                          <a:effectLst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900">
                          <a:effectLst/>
                        </a:rPr>
                        <a:t>matches_time_of_day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900" dirty="0">
                          <a:effectLst/>
                        </a:rPr>
                        <a:t>V-</a:t>
                      </a:r>
                      <a:r>
                        <a:rPr lang="ru-RU" sz="900" dirty="0">
                          <a:effectLst/>
                        </a:rPr>
                        <a:t>коэффициент Крамера = 0.0946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7760566"/>
                  </a:ext>
                </a:extLst>
              </a:tr>
              <a:tr h="334507">
                <a:tc>
                  <a:txBody>
                    <a:bodyPr/>
                    <a:lstStyle/>
                    <a:p>
                      <a:pPr fontAlgn="ctr"/>
                      <a:r>
                        <a:rPr lang="ru-RU" sz="900">
                          <a:effectLst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900">
                          <a:effectLst/>
                        </a:rPr>
                        <a:t>shift_total_views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900" dirty="0">
                          <a:effectLst/>
                        </a:rPr>
                        <a:t>Отрицательная корреляция (-0.0768)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6366821"/>
                  </a:ext>
                </a:extLst>
              </a:tr>
              <a:tr h="334507">
                <a:tc>
                  <a:txBody>
                    <a:bodyPr/>
                    <a:lstStyle/>
                    <a:p>
                      <a:pPr fontAlgn="ctr"/>
                      <a:r>
                        <a:rPr lang="ru-RU" sz="900">
                          <a:effectLst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900">
                          <a:effectLst/>
                        </a:rPr>
                        <a:t>task_category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900" dirty="0">
                          <a:effectLst/>
                        </a:rPr>
                        <a:t>V-</a:t>
                      </a:r>
                      <a:r>
                        <a:rPr lang="ru-RU" sz="900" dirty="0">
                          <a:effectLst/>
                        </a:rPr>
                        <a:t>коэффициент Крамера = 0.0550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735142"/>
                  </a:ext>
                </a:extLst>
              </a:tr>
              <a:tr h="334507">
                <a:tc>
                  <a:txBody>
                    <a:bodyPr/>
                    <a:lstStyle/>
                    <a:p>
                      <a:pPr fontAlgn="ctr"/>
                      <a:r>
                        <a:rPr lang="ru-RU" sz="900">
                          <a:effectLst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900">
                          <a:effectLst/>
                        </a:rPr>
                        <a:t>mk_match_2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900">
                          <a:effectLst/>
                        </a:rPr>
                        <a:t>Трёхстадийный признак, V-коэффициент Крамера = 0.0336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3166361"/>
                  </a:ext>
                </a:extLst>
              </a:tr>
              <a:tr h="334507">
                <a:tc>
                  <a:txBody>
                    <a:bodyPr/>
                    <a:lstStyle/>
                    <a:p>
                      <a:pPr fontAlgn="ctr"/>
                      <a:r>
                        <a:rPr lang="ru-RU" sz="900">
                          <a:effectLst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900">
                          <a:effectLst/>
                        </a:rPr>
                        <a:t>free_spots_at_prediction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900" dirty="0">
                          <a:effectLst/>
                        </a:rPr>
                        <a:t>Производный признак, участвует в </a:t>
                      </a:r>
                      <a:r>
                        <a:rPr lang="ru-RU" sz="900" dirty="0" err="1">
                          <a:effectLst/>
                        </a:rPr>
                        <a:t>is_full_at_prediction</a:t>
                      </a:r>
                      <a:endParaRPr lang="ru-RU" sz="9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7323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7014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5A096D-29B7-4685-B4F0-B2ABB3E49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sz="2000" i="0" dirty="0">
                <a:effectLst/>
              </a:rPr>
              <a:t>Обучение моделей и сравнение. Первое приближение для предварительной оценки. Анализ важности признаков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A479E7-CAFE-465E-8052-88D02A81E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63881"/>
            <a:ext cx="4391827" cy="4486542"/>
          </a:xfrm>
          <a:solidFill>
            <a:schemeClr val="accent3"/>
          </a:solidFill>
        </p:spPr>
        <p:txBody>
          <a:bodyPr>
            <a:normAutofit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ru-RU" sz="1600" dirty="0">
                <a:solidFill>
                  <a:schemeClr val="bg1"/>
                </a:solidFill>
              </a:rPr>
              <a:t>В рамках исследования было проведено сравнительное тестирование шести различных архитектур </a:t>
            </a:r>
            <a:r>
              <a:rPr lang="en-US" sz="1600" dirty="0">
                <a:solidFill>
                  <a:schemeClr val="bg1"/>
                </a:solidFill>
              </a:rPr>
              <a:t>ML-</a:t>
            </a:r>
            <a:r>
              <a:rPr lang="ru-RU" sz="1600" dirty="0">
                <a:solidFill>
                  <a:schemeClr val="bg1"/>
                </a:solidFill>
              </a:rPr>
              <a:t>моделей: </a:t>
            </a:r>
            <a:r>
              <a:rPr lang="en-US" sz="1600" dirty="0" err="1">
                <a:solidFill>
                  <a:schemeClr val="bg1"/>
                </a:solidFill>
              </a:rPr>
              <a:t>CatBoost</a:t>
            </a:r>
            <a:r>
              <a:rPr lang="en-US" sz="1600" dirty="0">
                <a:solidFill>
                  <a:schemeClr val="bg1"/>
                </a:solidFill>
              </a:rPr>
              <a:t>, Decision Tree, </a:t>
            </a:r>
            <a:r>
              <a:rPr lang="en-US" sz="1600" dirty="0" err="1">
                <a:solidFill>
                  <a:schemeClr val="bg1"/>
                </a:solidFill>
              </a:rPr>
              <a:t>LightGBM</a:t>
            </a:r>
            <a:r>
              <a:rPr lang="en-US" sz="1600" dirty="0">
                <a:solidFill>
                  <a:schemeClr val="bg1"/>
                </a:solidFill>
              </a:rPr>
              <a:t>, Logistic Regression, Random Forest </a:t>
            </a:r>
            <a:r>
              <a:rPr lang="ru-RU" sz="1600" dirty="0">
                <a:solidFill>
                  <a:schemeClr val="bg1"/>
                </a:solidFill>
              </a:rPr>
              <a:t>и </a:t>
            </a:r>
            <a:r>
              <a:rPr lang="en-US" sz="1600" dirty="0" err="1">
                <a:solidFill>
                  <a:schemeClr val="bg1"/>
                </a:solidFill>
              </a:rPr>
              <a:t>XGBoost</a:t>
            </a:r>
            <a:r>
              <a:rPr lang="en-US" sz="1600" dirty="0">
                <a:solidFill>
                  <a:schemeClr val="bg1"/>
                </a:solidFill>
              </a:rPr>
              <a:t>. </a:t>
            </a:r>
            <a:r>
              <a:rPr lang="ru-RU" sz="1600" dirty="0">
                <a:solidFill>
                  <a:schemeClr val="bg1"/>
                </a:solidFill>
              </a:rPr>
              <a:t>Часть моделей обучалась с применением техник балансировки классов (</a:t>
            </a:r>
            <a:r>
              <a:rPr lang="en-US" sz="1600" dirty="0">
                <a:solidFill>
                  <a:schemeClr val="bg1"/>
                </a:solidFill>
              </a:rPr>
              <a:t>Balanced/Weighted).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indent="0">
              <a:buNone/>
            </a:pPr>
            <a:r>
              <a:rPr lang="ru-RU" sz="1600" b="0" u="none" strike="noStrike" dirty="0">
                <a:solidFill>
                  <a:schemeClr val="bg1"/>
                </a:solidFill>
                <a:effectLst/>
              </a:rPr>
              <a:t>Каждая модель была обучена и проверена на двух разных конфигурациях входных данных: расширенный набор признаков и строгом, более ограниченном наборе признаков.</a:t>
            </a:r>
          </a:p>
          <a:p>
            <a:pPr marL="0" indent="0">
              <a:buNone/>
            </a:pPr>
            <a:r>
              <a:rPr lang="ru-RU" sz="1600" dirty="0">
                <a:solidFill>
                  <a:schemeClr val="bg1"/>
                </a:solidFill>
              </a:rPr>
              <a:t>Наиболее стабильно себя показала модель </a:t>
            </a:r>
            <a:r>
              <a:rPr lang="en-US" sz="1600" dirty="0" err="1">
                <a:solidFill>
                  <a:schemeClr val="bg1"/>
                </a:solidFill>
              </a:rPr>
              <a:t>LightGBM</a:t>
            </a:r>
            <a:r>
              <a:rPr lang="ru-RU" sz="1600" dirty="0">
                <a:solidFill>
                  <a:schemeClr val="bg1"/>
                </a:solidFill>
              </a:rPr>
              <a:t>, для нее был выполнен подбор </a:t>
            </a:r>
            <a:r>
              <a:rPr lang="ru-RU" sz="1600" dirty="0" err="1">
                <a:solidFill>
                  <a:schemeClr val="bg1"/>
                </a:solidFill>
              </a:rPr>
              <a:t>гиперпараметров</a:t>
            </a:r>
            <a:r>
              <a:rPr lang="ru-RU" sz="1600" dirty="0">
                <a:solidFill>
                  <a:schemeClr val="bg1"/>
                </a:solidFill>
              </a:rPr>
              <a:t>, а также отбор наиболее важных признаков.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F6B380-1010-47A8-BFA1-862FFFCE85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6957" y="1042968"/>
            <a:ext cx="6173847" cy="500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727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5A096D-29B7-4685-B4F0-B2ABB3E49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sz="2000" i="0" dirty="0">
                <a:effectLst/>
              </a:rPr>
              <a:t>Обучение моделей и сравнение. Первое приближение для предварительной оценки. Анализ важности признаков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A479E7-CAFE-465E-8052-88D02A81E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63881"/>
            <a:ext cx="4391827" cy="4486542"/>
          </a:xfrm>
          <a:solidFill>
            <a:schemeClr val="accent3"/>
          </a:solidFill>
        </p:spPr>
        <p:txBody>
          <a:bodyPr>
            <a:normAutofit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ru-RU" sz="1600" dirty="0">
                <a:solidFill>
                  <a:schemeClr val="bg1"/>
                </a:solidFill>
              </a:rPr>
              <a:t>В рамках исследования было проведено сравнительное тестирование шести различных архитектур </a:t>
            </a:r>
            <a:r>
              <a:rPr lang="en-US" sz="1600" dirty="0">
                <a:solidFill>
                  <a:schemeClr val="bg1"/>
                </a:solidFill>
              </a:rPr>
              <a:t>ML-</a:t>
            </a:r>
            <a:r>
              <a:rPr lang="ru-RU" sz="1600" dirty="0">
                <a:solidFill>
                  <a:schemeClr val="bg1"/>
                </a:solidFill>
              </a:rPr>
              <a:t>моделей: </a:t>
            </a:r>
            <a:r>
              <a:rPr lang="en-US" sz="1600" dirty="0" err="1">
                <a:solidFill>
                  <a:schemeClr val="bg1"/>
                </a:solidFill>
              </a:rPr>
              <a:t>CatBoost</a:t>
            </a:r>
            <a:r>
              <a:rPr lang="en-US" sz="1600" dirty="0">
                <a:solidFill>
                  <a:schemeClr val="bg1"/>
                </a:solidFill>
              </a:rPr>
              <a:t>, Decision Tree, </a:t>
            </a:r>
            <a:r>
              <a:rPr lang="en-US" sz="1600" dirty="0" err="1">
                <a:solidFill>
                  <a:schemeClr val="bg1"/>
                </a:solidFill>
              </a:rPr>
              <a:t>LightGBM</a:t>
            </a:r>
            <a:r>
              <a:rPr lang="en-US" sz="1600" dirty="0">
                <a:solidFill>
                  <a:schemeClr val="bg1"/>
                </a:solidFill>
              </a:rPr>
              <a:t>, Logistic Regression, Random Forest </a:t>
            </a:r>
            <a:r>
              <a:rPr lang="ru-RU" sz="1600" dirty="0">
                <a:solidFill>
                  <a:schemeClr val="bg1"/>
                </a:solidFill>
              </a:rPr>
              <a:t>и </a:t>
            </a:r>
            <a:r>
              <a:rPr lang="en-US" sz="1600" dirty="0" err="1">
                <a:solidFill>
                  <a:schemeClr val="bg1"/>
                </a:solidFill>
              </a:rPr>
              <a:t>XGBoost</a:t>
            </a:r>
            <a:r>
              <a:rPr lang="en-US" sz="1600" dirty="0">
                <a:solidFill>
                  <a:schemeClr val="bg1"/>
                </a:solidFill>
              </a:rPr>
              <a:t>. </a:t>
            </a:r>
            <a:r>
              <a:rPr lang="ru-RU" sz="1600" dirty="0">
                <a:solidFill>
                  <a:schemeClr val="bg1"/>
                </a:solidFill>
              </a:rPr>
              <a:t>Часть моделей обучалась с применением техник балансировки классов (</a:t>
            </a:r>
            <a:r>
              <a:rPr lang="en-US" sz="1600" dirty="0">
                <a:solidFill>
                  <a:schemeClr val="bg1"/>
                </a:solidFill>
              </a:rPr>
              <a:t>Balanced/Weighted).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indent="0">
              <a:buNone/>
            </a:pPr>
            <a:r>
              <a:rPr lang="ru-RU" sz="1600" b="0" u="none" strike="noStrike" dirty="0">
                <a:solidFill>
                  <a:schemeClr val="bg1"/>
                </a:solidFill>
                <a:effectLst/>
              </a:rPr>
              <a:t>Каждая модель была обучена и проверена на двух разных конфигурациях входных данных: расширенный набор признаков и строгом, более ограниченном наборе признаков.</a:t>
            </a:r>
          </a:p>
          <a:p>
            <a:pPr marL="0" indent="0">
              <a:buNone/>
            </a:pPr>
            <a:r>
              <a:rPr lang="ru-RU" sz="1600" dirty="0">
                <a:solidFill>
                  <a:schemeClr val="bg1"/>
                </a:solidFill>
              </a:rPr>
              <a:t>Наиболее стабильно себя показала модель </a:t>
            </a:r>
            <a:r>
              <a:rPr lang="en-US" sz="1600" dirty="0" err="1">
                <a:solidFill>
                  <a:schemeClr val="bg1"/>
                </a:solidFill>
              </a:rPr>
              <a:t>LightGBM</a:t>
            </a:r>
            <a:r>
              <a:rPr lang="ru-RU" sz="1600" dirty="0">
                <a:solidFill>
                  <a:schemeClr val="bg1"/>
                </a:solidFill>
              </a:rPr>
              <a:t>, для нее был выполнен подбор </a:t>
            </a:r>
            <a:r>
              <a:rPr lang="ru-RU" sz="1600" dirty="0" err="1">
                <a:solidFill>
                  <a:schemeClr val="bg1"/>
                </a:solidFill>
              </a:rPr>
              <a:t>гиперпараметров</a:t>
            </a:r>
            <a:r>
              <a:rPr lang="ru-RU" sz="1600" dirty="0">
                <a:solidFill>
                  <a:schemeClr val="bg1"/>
                </a:solidFill>
              </a:rPr>
              <a:t>, а также отбор наиболее важных признаков.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68B1896-EB00-494F-BE11-7BE83CE7B4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812" y="398344"/>
            <a:ext cx="2941162" cy="6161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064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D0E0D15-E80A-42CB-94A5-2C2117541D15}"/>
              </a:ext>
            </a:extLst>
          </p:cNvPr>
          <p:cNvSpPr txBox="1"/>
          <p:nvPr/>
        </p:nvSpPr>
        <p:spPr>
          <a:xfrm>
            <a:off x="3048000" y="3244334"/>
            <a:ext cx="6096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600" b="1" dirty="0"/>
              <a:t>СПАСИБО</a:t>
            </a:r>
          </a:p>
        </p:txBody>
      </p:sp>
    </p:spTree>
    <p:extLst>
      <p:ext uri="{BB962C8B-B14F-4D97-AF65-F5344CB8AC3E}">
        <p14:creationId xmlns:p14="http://schemas.microsoft.com/office/powerpoint/2010/main" val="3136220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Красный и фиолетовый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1725</Words>
  <Application>Microsoft Office PowerPoint</Application>
  <PresentationFormat>Широкоэкранный</PresentationFormat>
  <Paragraphs>185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Roboto</vt:lpstr>
      <vt:lpstr>system-ui</vt:lpstr>
      <vt:lpstr>Wingdings</vt:lpstr>
      <vt:lpstr>Тема Office</vt:lpstr>
      <vt:lpstr>Создание целевой переменной</vt:lpstr>
      <vt:lpstr>Формирование признаков</vt:lpstr>
      <vt:lpstr>Формирование признаков</vt:lpstr>
      <vt:lpstr>Анализ времени между просмотром (VIEW) и  началом смены (START_AT)</vt:lpstr>
      <vt:lpstr>Анализ количества дней между просмотрами и стартом смены по типам задач</vt:lpstr>
      <vt:lpstr>Анализ взаимосвязи признаков (Корреляционная матрица)</vt:lpstr>
      <vt:lpstr>Статистический анализ признаков</vt:lpstr>
      <vt:lpstr>Обучение моделей и сравнение. Первое приближение для предварительной оценки. Анализ важности признаков</vt:lpstr>
      <vt:lpstr>Обучение моделей и сравнение. Первое приближение для предварительной оценки. Анализ важности признаков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 Obstinate</dc:creator>
  <cp:lastModifiedBy>Денис Троян</cp:lastModifiedBy>
  <cp:revision>33</cp:revision>
  <dcterms:created xsi:type="dcterms:W3CDTF">2021-11-30T17:36:27Z</dcterms:created>
  <dcterms:modified xsi:type="dcterms:W3CDTF">2026-05-18T16:38:52Z</dcterms:modified>
</cp:coreProperties>
</file>