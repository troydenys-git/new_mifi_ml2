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9E00"/>
    <a:srgbClr val="FFCC00"/>
    <a:srgbClr val="FF6600"/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6F5C1-89B2-405C-9D94-1F9344DF8A1B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7A8EE-8359-4671-95DA-B29D429A32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067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7A8EE-8359-4671-95DA-B29D429A32C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903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7A8EE-8359-4671-95DA-B29D429A32C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898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7A8EE-8359-4671-95DA-B29D429A32C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978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7A8EE-8359-4671-95DA-B29D429A32C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531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C25E3-9A96-4BF1-A826-F3FCE7377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8B54F1-7CB4-4328-9824-2B280B025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35C60D-E086-47FC-8AF2-5E5836B7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1BBC17-92F9-48D4-9529-D6783C3EE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4BB227-716B-482B-BFA2-FC2AA6046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33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25A1A-BCAC-4A96-BD3A-06B40D65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006986-1D94-4399-B780-F12AE0DD6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B45523-37FA-4AD7-BE10-17F57C5CD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1B9AC7-AE59-40B4-B4D1-F4BDB610A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1C9D03-8C78-47BD-8AED-FBE3D4B9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547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67EE67-F975-4418-99B6-E738ADDC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808867-E24A-44CF-A06D-EEF32CF70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ADA18C-D944-4F6B-AB97-F162AD773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8171A5-2AFE-44FF-BA7C-257FBAB4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22F85C-9D96-4618-9CF1-B4A8F94B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933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FA4E3B-14AD-4ED4-8FDD-156468E56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05EEB9-E820-4C0E-BBF8-A7C9D51A5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1C47C6E-D469-4084-B104-BBE8D3285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06BDF57-03EB-4CB8-BDD7-70AFFE93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B557C2-7CC4-4215-A3E7-CB94F76E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1A48C4-2FD8-43CA-BD8C-52C21331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84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56B651-1386-4476-B169-5A6716FA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41355F-117A-4397-8174-5D0A9AEE4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230D96-A700-4F44-923B-1100AD842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E52CE8-E78B-4A5A-A882-F923B6F16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BAD58EC-15FB-49AB-9BDB-609A4F73BB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4AE0742-B511-4F04-8871-3ECE1D17A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6BFDDB8-4295-4D7C-A20D-CCF889AD1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F4A39A6-3B28-486A-AE25-F1EEAD0A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819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6780CB-99DA-495A-83DE-E100A737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1F3720A-26C8-4570-B796-AE0AA85A2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FC6F80E-FFEF-4EAB-9CCE-0968B1CBE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51B486-FEF7-4033-90FE-84F69A6E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531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B076954-737E-4827-90C0-D3C164AB7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60092C0-474B-460B-85CF-D318B2EF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F215A4-A599-4121-9EFB-6A0BFE03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03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78DD9-699B-4DE3-A849-AC58A9F2A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5BDEBC-CC01-44CA-82AB-F11ACC259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E9C937-4C60-4640-A8A5-03CD16417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1F17F0-F4B0-4BAD-8999-737AAD623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75BEBD-BB55-435D-9CBE-E5B26AC13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130E51-9538-4A24-A4AA-544A5BF50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675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8D216B-B283-40FE-BC69-6E7C1C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16BBA8B-4D8D-4A09-822D-74F32DDC3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E84314E-E40D-41BC-9754-E85B39CE2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82CBBF-3B75-4A3D-9663-E604C5B60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C59324-0F2C-44C5-82EE-5E114156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CCB86D-FE25-437F-8273-B74100D9C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49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0F653-6955-4959-B0E4-908C48199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0FC797-37BE-4687-980B-21F84B8A6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C0EE35-56DE-499F-B115-A8A666EE5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D1202F-25F2-4394-88C9-0EF0CD97C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D499B1-FC3B-472C-BCA1-A9B4EF191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576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4D39930-2F1A-4519-AD1E-A2EA812F6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D03F0FA-7457-4E5D-95C1-A3F92BDF0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BD576E-6E2D-4FD7-A45E-BCCA31905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9EAFE-6088-4937-B583-9661DE49AF57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C30592-BCF1-4D2B-BAAD-75E469C5C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BC4655-C9E7-492A-AABF-8C61E788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763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1B280-19DD-4C2E-AE44-9D68DCCF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123AE7-A2B6-4222-AA11-8467B630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AB4383-5558-4699-A3B9-19AD3B1ACB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9EAFE-6088-4937-B583-9661DE49AF57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5D552D-2E3A-4C99-9EE1-DE0C276FD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D8330A-35E5-4AA3-B5C2-43A369A72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F3F13-5B8C-4E43-A891-88299B0BAD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646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4C2C5F5-14EC-4A51-916A-8DBE8D2843D0}"/>
              </a:ext>
            </a:extLst>
          </p:cNvPr>
          <p:cNvSpPr/>
          <p:nvPr/>
        </p:nvSpPr>
        <p:spPr>
          <a:xfrm>
            <a:off x="327991" y="785078"/>
            <a:ext cx="11536018" cy="508586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9B4284-AF65-487E-BADB-9AF91D6B7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016"/>
            <a:ext cx="10515600" cy="495022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Выбор горизонта прогноза (прогноз за 2 дня до старта смены)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8DD3B2-D42B-447D-B34F-DDD50A9C8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873518"/>
            <a:ext cx="10891887" cy="5385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>
                <a:solidFill>
                  <a:srgbClr val="0F1115"/>
                </a:solidFill>
              </a:rPr>
              <a:t>Бизнес-вопрос:</a:t>
            </a:r>
            <a:r>
              <a:rPr lang="ru-RU" sz="2000" dirty="0">
                <a:solidFill>
                  <a:srgbClr val="0F1115"/>
                </a:solidFill>
              </a:rPr>
              <a:t> насколько заранее нужно предсказывать </a:t>
            </a:r>
            <a:r>
              <a:rPr lang="en-US" sz="2000" dirty="0">
                <a:solidFill>
                  <a:srgbClr val="0F1115"/>
                </a:solidFill>
              </a:rPr>
              <a:t>target</a:t>
            </a:r>
            <a:r>
              <a:rPr lang="ru-RU" sz="2000" dirty="0">
                <a:solidFill>
                  <a:srgbClr val="0F1115"/>
                </a:solidFill>
              </a:rPr>
              <a:t>, чтобы успеть принять меры?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800" dirty="0">
              <a:solidFill>
                <a:srgbClr val="0F111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4BCCB-5B10-4AC8-80D7-ED9DF90B6273}"/>
              </a:ext>
            </a:extLst>
          </p:cNvPr>
          <p:cNvSpPr txBox="1"/>
          <p:nvPr/>
        </p:nvSpPr>
        <p:spPr>
          <a:xfrm>
            <a:off x="159027" y="1369456"/>
            <a:ext cx="4628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0F1115"/>
                </a:solidFill>
              </a:rPr>
              <a:t>Для принятия решения проанализировали распределение показателя  «количество дней между просмотром и стартом смены»: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D51E91D-44B9-432D-B0A1-C283A055008D}"/>
              </a:ext>
            </a:extLst>
          </p:cNvPr>
          <p:cNvCxnSpPr>
            <a:cxnSpLocks/>
          </p:cNvCxnSpPr>
          <p:nvPr/>
        </p:nvCxnSpPr>
        <p:spPr>
          <a:xfrm>
            <a:off x="4377404" y="1456440"/>
            <a:ext cx="6678" cy="480295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15CDA02-E92E-42DC-B4CE-CE841BF437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48" b="1"/>
          <a:stretch/>
        </p:blipFill>
        <p:spPr>
          <a:xfrm>
            <a:off x="327991" y="2287443"/>
            <a:ext cx="3627783" cy="35481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C9B68D-62C0-497D-8112-A222160F5AA4}"/>
              </a:ext>
            </a:extLst>
          </p:cNvPr>
          <p:cNvSpPr txBox="1"/>
          <p:nvPr/>
        </p:nvSpPr>
        <p:spPr>
          <a:xfrm>
            <a:off x="159027" y="5917960"/>
            <a:ext cx="422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Медиана = 2 дня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1C1617F6-97FD-4A71-994E-FFE38D085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165738"/>
              </p:ext>
            </p:extLst>
          </p:nvPr>
        </p:nvGraphicFramePr>
        <p:xfrm>
          <a:off x="4585356" y="1568845"/>
          <a:ext cx="7447616" cy="32416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5505">
                  <a:extLst>
                    <a:ext uri="{9D8B030D-6E8A-4147-A177-3AD203B41FA5}">
                      <a16:colId xmlns:a16="http://schemas.microsoft.com/office/drawing/2014/main" val="3903835935"/>
                    </a:ext>
                  </a:extLst>
                </a:gridCol>
                <a:gridCol w="1868556">
                  <a:extLst>
                    <a:ext uri="{9D8B030D-6E8A-4147-A177-3AD203B41FA5}">
                      <a16:colId xmlns:a16="http://schemas.microsoft.com/office/drawing/2014/main" val="3058992437"/>
                    </a:ext>
                  </a:extLst>
                </a:gridCol>
                <a:gridCol w="1709531">
                  <a:extLst>
                    <a:ext uri="{9D8B030D-6E8A-4147-A177-3AD203B41FA5}">
                      <a16:colId xmlns:a16="http://schemas.microsoft.com/office/drawing/2014/main" val="3320915629"/>
                    </a:ext>
                  </a:extLst>
                </a:gridCol>
                <a:gridCol w="2064024">
                  <a:extLst>
                    <a:ext uri="{9D8B030D-6E8A-4147-A177-3AD203B41FA5}">
                      <a16:colId xmlns:a16="http://schemas.microsoft.com/office/drawing/2014/main" val="3029443908"/>
                    </a:ext>
                  </a:extLst>
                </a:gridCol>
              </a:tblGrid>
              <a:tr h="634009">
                <a:tc>
                  <a:txBody>
                    <a:bodyPr/>
                    <a:lstStyle/>
                    <a:p>
                      <a:r>
                        <a:rPr lang="ru-RU" sz="1600" u="sng" dirty="0"/>
                        <a:t>Критерий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u="sng" dirty="0"/>
                        <a:t>В день старта смены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u="sng" dirty="0"/>
                        <a:t>За 2 дня до смены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u="sng" dirty="0"/>
                        <a:t>За 7+ дней до смены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286968"/>
                  </a:ext>
                </a:extLst>
              </a:tr>
              <a:tr h="853362">
                <a:tc>
                  <a:txBody>
                    <a:bodyPr/>
                    <a:lstStyle/>
                    <a:p>
                      <a:r>
                        <a:rPr lang="ru-RU" sz="1600" dirty="0"/>
                        <a:t>Свободные места на момент прогноза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0-10%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30-50%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70-90%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195021"/>
                  </a:ext>
                </a:extLst>
              </a:tr>
              <a:tr h="900960">
                <a:tc>
                  <a:txBody>
                    <a:bodyPr/>
                    <a:lstStyle/>
                    <a:p>
                      <a:r>
                        <a:rPr lang="ru-RU" sz="1600" dirty="0"/>
                        <a:t>Количество исторических признаков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Хорошее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Хорошее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Среднее (теряется недавняя активность)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502936"/>
                  </a:ext>
                </a:extLst>
              </a:tr>
              <a:tr h="853362">
                <a:tc>
                  <a:txBody>
                    <a:bodyPr/>
                    <a:lstStyle/>
                    <a:p>
                      <a:r>
                        <a:rPr lang="ru-RU" sz="1600" dirty="0"/>
                        <a:t>Бизнес-ценность прогноза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Низкая (поздно реагировать)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Высокая (есть время)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Средняя (слишком рано, нестабильно)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320272"/>
                  </a:ext>
                </a:extLst>
              </a:tr>
            </a:tbl>
          </a:graphicData>
        </a:graphic>
      </p:graphicFrame>
      <p:pic>
        <p:nvPicPr>
          <p:cNvPr id="14" name="Рисунок 13" descr="Знак одобрения">
            <a:extLst>
              <a:ext uri="{FF2B5EF4-FFF2-40B4-BE49-F238E27FC236}">
                <a16:creationId xmlns:a16="http://schemas.microsoft.com/office/drawing/2014/main" id="{17997863-E0CD-441F-BB00-2CE6F5F39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6930" y="3299620"/>
            <a:ext cx="318052" cy="397565"/>
          </a:xfrm>
          <a:prstGeom prst="rect">
            <a:avLst/>
          </a:prstGeom>
        </p:spPr>
      </p:pic>
      <p:pic>
        <p:nvPicPr>
          <p:cNvPr id="21" name="Рисунок 20" descr="Знак одобрения">
            <a:extLst>
              <a:ext uri="{FF2B5EF4-FFF2-40B4-BE49-F238E27FC236}">
                <a16:creationId xmlns:a16="http://schemas.microsoft.com/office/drawing/2014/main" id="{EDF2B443-3C48-4CB1-97EA-AA116199B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9355" y="3299620"/>
            <a:ext cx="318052" cy="397565"/>
          </a:xfrm>
          <a:prstGeom prst="rect">
            <a:avLst/>
          </a:prstGeom>
        </p:spPr>
      </p:pic>
      <p:pic>
        <p:nvPicPr>
          <p:cNvPr id="22" name="Рисунок 21" descr="Знак одобрения">
            <a:extLst>
              <a:ext uri="{FF2B5EF4-FFF2-40B4-BE49-F238E27FC236}">
                <a16:creationId xmlns:a16="http://schemas.microsoft.com/office/drawing/2014/main" id="{F75B0945-E470-4DDF-8F07-211681518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5638" y="4333187"/>
            <a:ext cx="318052" cy="397565"/>
          </a:xfrm>
          <a:prstGeom prst="rect">
            <a:avLst/>
          </a:prstGeom>
        </p:spPr>
      </p:pic>
      <p:pic>
        <p:nvPicPr>
          <p:cNvPr id="24" name="Рисунок 23" descr="Запрещено">
            <a:extLst>
              <a:ext uri="{FF2B5EF4-FFF2-40B4-BE49-F238E27FC236}">
                <a16:creationId xmlns:a16="http://schemas.microsoft.com/office/drawing/2014/main" id="{9034DCC1-7027-4108-8DB5-294DC7CB16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0497" y="4379324"/>
            <a:ext cx="318052" cy="305293"/>
          </a:xfrm>
          <a:prstGeom prst="rect">
            <a:avLst/>
          </a:prstGeom>
        </p:spPr>
      </p:pic>
      <p:pic>
        <p:nvPicPr>
          <p:cNvPr id="26" name="Рисунок 25" descr="Направленный вправо указательный палец, тыльная сторона руки">
            <a:extLst>
              <a:ext uri="{FF2B5EF4-FFF2-40B4-BE49-F238E27FC236}">
                <a16:creationId xmlns:a16="http://schemas.microsoft.com/office/drawing/2014/main" id="{D6941C11-BE43-49A1-891D-EA52227C78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41780" y="3003028"/>
            <a:ext cx="397566" cy="373326"/>
          </a:xfrm>
          <a:prstGeom prst="rect">
            <a:avLst/>
          </a:prstGeom>
        </p:spPr>
      </p:pic>
      <p:pic>
        <p:nvPicPr>
          <p:cNvPr id="27" name="Рисунок 26" descr="Направленный вправо указательный палец, тыльная сторона руки">
            <a:extLst>
              <a:ext uri="{FF2B5EF4-FFF2-40B4-BE49-F238E27FC236}">
                <a16:creationId xmlns:a16="http://schemas.microsoft.com/office/drawing/2014/main" id="{A317DB87-5FC5-4542-9CB6-2C9923BFA4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41780" y="3890835"/>
            <a:ext cx="397566" cy="373326"/>
          </a:xfrm>
          <a:prstGeom prst="rect">
            <a:avLst/>
          </a:prstGeom>
        </p:spPr>
      </p:pic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9FC9DBBA-5EC0-47E7-B659-0303CD4CB874}"/>
              </a:ext>
            </a:extLst>
          </p:cNvPr>
          <p:cNvSpPr/>
          <p:nvPr/>
        </p:nvSpPr>
        <p:spPr>
          <a:xfrm>
            <a:off x="8070574" y="1369455"/>
            <a:ext cx="1981305" cy="3709441"/>
          </a:xfrm>
          <a:prstGeom prst="roundRect">
            <a:avLst/>
          </a:prstGeom>
          <a:solidFill>
            <a:schemeClr val="accent6">
              <a:lumMod val="40000"/>
              <a:lumOff val="60000"/>
              <a:alpha val="17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72DF2D-8607-47F6-843C-BE2E17DF6E1A}"/>
              </a:ext>
            </a:extLst>
          </p:cNvPr>
          <p:cNvSpPr txBox="1"/>
          <p:nvPr/>
        </p:nvSpPr>
        <p:spPr>
          <a:xfrm>
            <a:off x="4416393" y="5397624"/>
            <a:ext cx="744761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Итоговый вывод: точка за 2 дня до старта оптимальна</a:t>
            </a:r>
          </a:p>
          <a:p>
            <a:endParaRPr lang="ru-RU" b="1" dirty="0"/>
          </a:p>
          <a:p>
            <a:r>
              <a:rPr lang="ru-RU" sz="1600" dirty="0"/>
              <a:t>К этому моменту уже совершено 70% заявок, но еще есть свободные места, а исторических данных достаточно для качественных признаков</a:t>
            </a: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1448486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4C2C5F5-14EC-4A51-916A-8DBE8D2843D0}"/>
              </a:ext>
            </a:extLst>
          </p:cNvPr>
          <p:cNvSpPr/>
          <p:nvPr/>
        </p:nvSpPr>
        <p:spPr>
          <a:xfrm>
            <a:off x="113582" y="617591"/>
            <a:ext cx="12019616" cy="444978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9B4284-AF65-487E-BADB-9AF91D6B7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3777"/>
            <a:ext cx="10515600" cy="49502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+mn-lt"/>
              </a:rPr>
              <a:t>Feature Engineering – </a:t>
            </a:r>
            <a:r>
              <a:rPr lang="ru-RU" sz="2800" b="1" dirty="0">
                <a:latin typeface="+mn-lt"/>
              </a:rPr>
              <a:t>группы признаков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BCEEE1-14EC-4C3A-8D82-2ECB5489E91F}"/>
              </a:ext>
            </a:extLst>
          </p:cNvPr>
          <p:cNvSpPr txBox="1"/>
          <p:nvPr/>
        </p:nvSpPr>
        <p:spPr>
          <a:xfrm>
            <a:off x="79512" y="653736"/>
            <a:ext cx="12032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Цель:</a:t>
            </a:r>
            <a:r>
              <a:rPr lang="ru-RU" dirty="0"/>
              <a:t> преобразование сырых данных в признаки, предсказывающие вероятность выхода на смену за 2 дня до ее  старта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D2C54F-B128-4A2C-8556-E2E66ABCAAC8}"/>
              </a:ext>
            </a:extLst>
          </p:cNvPr>
          <p:cNvSpPr txBox="1"/>
          <p:nvPr/>
        </p:nvSpPr>
        <p:spPr>
          <a:xfrm>
            <a:off x="213229" y="5975392"/>
            <a:ext cx="422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Всего создано признаков: 50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EAD5DCB0-7A7D-4FFA-83B1-EF6751EB8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224966"/>
              </p:ext>
            </p:extLst>
          </p:nvPr>
        </p:nvGraphicFramePr>
        <p:xfrm>
          <a:off x="289650" y="1221913"/>
          <a:ext cx="11612698" cy="4820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9876">
                  <a:extLst>
                    <a:ext uri="{9D8B030D-6E8A-4147-A177-3AD203B41FA5}">
                      <a16:colId xmlns:a16="http://schemas.microsoft.com/office/drawing/2014/main" val="1573054868"/>
                    </a:ext>
                  </a:extLst>
                </a:gridCol>
                <a:gridCol w="2202118">
                  <a:extLst>
                    <a:ext uri="{9D8B030D-6E8A-4147-A177-3AD203B41FA5}">
                      <a16:colId xmlns:a16="http://schemas.microsoft.com/office/drawing/2014/main" val="3271477660"/>
                    </a:ext>
                  </a:extLst>
                </a:gridCol>
                <a:gridCol w="2872613">
                  <a:extLst>
                    <a:ext uri="{9D8B030D-6E8A-4147-A177-3AD203B41FA5}">
                      <a16:colId xmlns:a16="http://schemas.microsoft.com/office/drawing/2014/main" val="1271731851"/>
                    </a:ext>
                  </a:extLst>
                </a:gridCol>
                <a:gridCol w="4548091">
                  <a:extLst>
                    <a:ext uri="{9D8B030D-6E8A-4147-A177-3AD203B41FA5}">
                      <a16:colId xmlns:a16="http://schemas.microsoft.com/office/drawing/2014/main" val="2080744191"/>
                    </a:ext>
                  </a:extLst>
                </a:gridCol>
              </a:tblGrid>
              <a:tr h="308777">
                <a:tc>
                  <a:txBody>
                    <a:bodyPr/>
                    <a:lstStyle/>
                    <a:p>
                      <a:r>
                        <a:rPr lang="ru-RU" sz="1600" b="1" u="sng" dirty="0"/>
                        <a:t>Группа признаков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u="sng" dirty="0"/>
                        <a:t>Пример признака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u="sng" dirty="0"/>
                        <a:t>Описание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u="sng" dirty="0"/>
                        <a:t>Как считался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036742"/>
                  </a:ext>
                </a:extLst>
              </a:tr>
              <a:tr h="280707">
                <a:tc rowSpan="3">
                  <a:txBody>
                    <a:bodyPr/>
                    <a:lstStyle/>
                    <a:p>
                      <a:r>
                        <a:rPr lang="ru-RU" sz="1400" dirty="0"/>
                        <a:t>Признаки смены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reward_per_hour</a:t>
                      </a:r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Оплата в час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reward/hours</a:t>
                      </a:r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72490"/>
                  </a:ext>
                </a:extLst>
              </a:tr>
              <a:tr h="280707">
                <a:tc vMerge="1">
                  <a:txBody>
                    <a:bodyPr/>
                    <a:lstStyle/>
                    <a:p>
                      <a:endParaRPr lang="ru-RU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shift_hour</a:t>
                      </a:r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Час начала смены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0-23 из </a:t>
                      </a:r>
                      <a:r>
                        <a:rPr lang="en-US" sz="1400" dirty="0"/>
                        <a:t>start_at</a:t>
                      </a:r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3115533"/>
                  </a:ext>
                </a:extLst>
              </a:tr>
              <a:tr h="280707">
                <a:tc vMerge="1">
                  <a:txBody>
                    <a:bodyPr/>
                    <a:lstStyle/>
                    <a:p>
                      <a:endParaRPr lang="ru-RU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is_weekday</a:t>
                      </a:r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/>
                        <a:t>Флаг «будний день или нет»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 – </a:t>
                      </a:r>
                      <a:r>
                        <a:rPr lang="ru-RU" sz="1400" dirty="0"/>
                        <a:t>если пн-пт и не праздник, иначе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963380"/>
                  </a:ext>
                </a:extLst>
              </a:tr>
              <a:tr h="370495">
                <a:tc rowSpan="3">
                  <a:txBody>
                    <a:bodyPr/>
                    <a:lstStyle/>
                    <a:p>
                      <a:r>
                        <a:rPr lang="ru-RU" sz="1400" dirty="0"/>
                        <a:t>Признаки пользователя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user_success_rate</a:t>
                      </a:r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Доля успешных записей в окне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Отношение выходов к просмотрам (0, если нет </a:t>
                      </a:r>
                      <a:r>
                        <a:rPr lang="en-US" sz="1400" dirty="0"/>
                        <a:t>view</a:t>
                      </a:r>
                      <a:r>
                        <a:rPr lang="ru-RU" sz="14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579316"/>
                  </a:ext>
                </a:extLst>
              </a:tr>
              <a:tr h="477201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user_high_paid_ratio</a:t>
                      </a:r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Доля высокооплачиваемых смен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-1, если нет выходов. Иначе доля смен с оплатой выше медианной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9252963"/>
                  </a:ext>
                </a:extLst>
              </a:tr>
              <a:tr h="280707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user_day_ratio</a:t>
                      </a:r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Доля выходов на дневные смены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-1, если нет выходов. Иначе доля дневных смен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139641"/>
                  </a:ext>
                </a:extLst>
              </a:tr>
              <a:tr h="477201">
                <a:tc rowSpan="2">
                  <a:txBody>
                    <a:bodyPr/>
                    <a:lstStyle/>
                    <a:p>
                      <a:r>
                        <a:rPr lang="ru-RU" sz="1400" dirty="0"/>
                        <a:t>Признаки работодателя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employer_popularity</a:t>
                      </a:r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Популярность среди </a:t>
                      </a:r>
                      <a:r>
                        <a:rPr lang="en-US" sz="1400" dirty="0"/>
                        <a:t>users</a:t>
                      </a:r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Число уникальных пользователей, работавших у заказчика (за имеющуюся историю, 2-3 мес.)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3900988"/>
                  </a:ext>
                </a:extLst>
              </a:tr>
              <a:tr h="477201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employer_avg_reward</a:t>
                      </a:r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Средний размер оплаты смен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Среднее арифметическое </a:t>
                      </a:r>
                      <a:r>
                        <a:rPr lang="en-US" sz="1400" dirty="0"/>
                        <a:t>reward</a:t>
                      </a:r>
                      <a:r>
                        <a:rPr lang="ru-RU" sz="1400" dirty="0"/>
                        <a:t> по всем сменам за имеющуюся историю (2-3 мес.)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6063766"/>
                  </a:ext>
                </a:extLst>
              </a:tr>
              <a:tr h="477201">
                <a:tc rowSpan="3">
                  <a:txBody>
                    <a:bodyPr/>
                    <a:lstStyle/>
                    <a:p>
                      <a:r>
                        <a:rPr lang="ru-RU" sz="1400" dirty="0"/>
                        <a:t>Сочетание признаков (взаимодействие)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user_task_type_experience</a:t>
                      </a:r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Опыт с данным типом задачи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1, если пользователь успешно работал с данным типом задачи, иначе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8304862"/>
                  </a:ext>
                </a:extLst>
              </a:tr>
              <a:tr h="280707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has_apply_before</a:t>
                      </a:r>
                      <a:r>
                        <a:rPr lang="ru-RU" sz="1400" dirty="0"/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Записывался ли ранее на эту смену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1, если уже записался на эту смену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555523"/>
                  </a:ext>
                </a:extLst>
              </a:tr>
              <a:tr h="477201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mk_match_2</a:t>
                      </a:r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состояние медкнижки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 – МК нужна, но у пользователя ее нет, 1 – МК нужна и есть, 2 – МК не нужна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85689485"/>
                  </a:ext>
                </a:extLst>
              </a:tr>
            </a:tbl>
          </a:graphicData>
        </a:graphic>
      </p:graphicFrame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B2FB599-69EB-42B4-BBC1-C2034FBF6624}"/>
              </a:ext>
            </a:extLst>
          </p:cNvPr>
          <p:cNvSpPr/>
          <p:nvPr/>
        </p:nvSpPr>
        <p:spPr>
          <a:xfrm>
            <a:off x="2209034" y="5167881"/>
            <a:ext cx="9769735" cy="444979"/>
          </a:xfrm>
          <a:prstGeom prst="round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7" name="Рисунок 16" descr="Восклицательный знак">
            <a:extLst>
              <a:ext uri="{FF2B5EF4-FFF2-40B4-BE49-F238E27FC236}">
                <a16:creationId xmlns:a16="http://schemas.microsoft.com/office/drawing/2014/main" id="{4AB38861-C5F4-4713-87B8-237088B94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6322" y="5180007"/>
            <a:ext cx="413928" cy="366127"/>
          </a:xfrm>
          <a:prstGeom prst="rect">
            <a:avLst/>
          </a:prstGeom>
        </p:spPr>
      </p:pic>
      <p:pic>
        <p:nvPicPr>
          <p:cNvPr id="30" name="Рисунок 29" descr="Восклицательный знак">
            <a:extLst>
              <a:ext uri="{FF2B5EF4-FFF2-40B4-BE49-F238E27FC236}">
                <a16:creationId xmlns:a16="http://schemas.microsoft.com/office/drawing/2014/main" id="{987DB9D3-BCB5-46ED-BAED-77BA9E7E9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25" y="6440179"/>
            <a:ext cx="413928" cy="29893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FD904BE-9109-425F-8FE8-0A83FD350EFB}"/>
              </a:ext>
            </a:extLst>
          </p:cNvPr>
          <p:cNvSpPr txBox="1"/>
          <p:nvPr/>
        </p:nvSpPr>
        <p:spPr>
          <a:xfrm>
            <a:off x="394981" y="6328036"/>
            <a:ext cx="11700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Обнаружили противоречие: за 2 дня до смены уже есть записавшиеся пользователи. По ним будет очень высокая вероятность выхода. Однако показ инфо о смене таким пользователям не имеет бизнес-смысла. Предлагаем исключить их из топ- </a:t>
            </a:r>
            <a:r>
              <a:rPr lang="en-US" sz="1400" dirty="0"/>
              <a:t>n </a:t>
            </a:r>
            <a:r>
              <a:rPr lang="ru-RU" sz="1400" dirty="0"/>
              <a:t>наиболее вероятных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3649148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521C9-10FC-4CBD-87ED-034D243AB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41" y="103482"/>
            <a:ext cx="10515600" cy="57755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Отбор признаков. Этап №1: ручной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B2A3F7B-518F-4F74-93CC-97E57F2BD4C6}"/>
              </a:ext>
            </a:extLst>
          </p:cNvPr>
          <p:cNvCxnSpPr/>
          <p:nvPr/>
        </p:nvCxnSpPr>
        <p:spPr>
          <a:xfrm>
            <a:off x="3773159" y="1314196"/>
            <a:ext cx="0" cy="477939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084F8E9-72BB-430E-AAB7-9F626E531429}"/>
              </a:ext>
            </a:extLst>
          </p:cNvPr>
          <p:cNvCxnSpPr/>
          <p:nvPr/>
        </p:nvCxnSpPr>
        <p:spPr>
          <a:xfrm>
            <a:off x="8043809" y="1314198"/>
            <a:ext cx="0" cy="45625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5D4A633-F348-451A-A418-52E89AF6FBFE}"/>
              </a:ext>
            </a:extLst>
          </p:cNvPr>
          <p:cNvSpPr txBox="1"/>
          <p:nvPr/>
        </p:nvSpPr>
        <p:spPr>
          <a:xfrm>
            <a:off x="225207" y="681037"/>
            <a:ext cx="384611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u="sng" dirty="0"/>
              <a:t>Непрерывные признаки:</a:t>
            </a:r>
          </a:p>
          <a:p>
            <a:endParaRPr lang="ru-RU" u="sng" dirty="0"/>
          </a:p>
          <a:p>
            <a:pPr algn="ctr"/>
            <a:r>
              <a:rPr lang="ru-RU" sz="1600" dirty="0"/>
              <a:t>Топ-9 признаков по коэффициенту корреляции с таргетом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27556705-8E92-492E-9D9B-9988BF721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423157"/>
              </p:ext>
            </p:extLst>
          </p:nvPr>
        </p:nvGraphicFramePr>
        <p:xfrm>
          <a:off x="225207" y="2004476"/>
          <a:ext cx="3339326" cy="387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3702">
                  <a:extLst>
                    <a:ext uri="{9D8B030D-6E8A-4147-A177-3AD203B41FA5}">
                      <a16:colId xmlns:a16="http://schemas.microsoft.com/office/drawing/2014/main" val="3541139350"/>
                    </a:ext>
                  </a:extLst>
                </a:gridCol>
                <a:gridCol w="755624">
                  <a:extLst>
                    <a:ext uri="{9D8B030D-6E8A-4147-A177-3AD203B41FA5}">
                      <a16:colId xmlns:a16="http://schemas.microsoft.com/office/drawing/2014/main" val="379264392"/>
                    </a:ext>
                  </a:extLst>
                </a:gridCol>
              </a:tblGrid>
              <a:tr h="350570">
                <a:tc>
                  <a:txBody>
                    <a:bodyPr/>
                    <a:lstStyle/>
                    <a:p>
                      <a:r>
                        <a:rPr lang="ru-RU" sz="1400" b="1" u="sng" dirty="0">
                          <a:solidFill>
                            <a:schemeClr val="tx1"/>
                          </a:solidFill>
                        </a:rPr>
                        <a:t>Признак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sng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ru-RU" sz="14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8528006"/>
                  </a:ext>
                </a:extLst>
              </a:tr>
              <a:tr h="4969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Доля успешных записей в окне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0,28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4349010"/>
                  </a:ext>
                </a:extLst>
              </a:tr>
              <a:tr h="355671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Успешных действий за 7 дней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0,20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1781018"/>
                  </a:ext>
                </a:extLst>
              </a:tr>
              <a:tr h="355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Успешных действий за 14 дней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0,15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9652566"/>
                  </a:ext>
                </a:extLst>
              </a:tr>
              <a:tr h="578355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Опыт пользователя в данной локации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0,13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7642511"/>
                  </a:ext>
                </a:extLst>
              </a:tr>
              <a:tr h="578355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Просмотров смены (всеми пользователями)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FF0000"/>
                          </a:solidFill>
                        </a:rPr>
                        <a:t>-0,08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3417987"/>
                  </a:ext>
                </a:extLst>
              </a:tr>
              <a:tr h="578355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Кол-во просмотренных смен пользователем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FF0000"/>
                          </a:solidFill>
                        </a:rPr>
                        <a:t>-0,08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840694"/>
                  </a:ext>
                </a:extLst>
              </a:tr>
              <a:tr h="578355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Сколько раз пользователь просматривал эту смену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FF0000"/>
                          </a:solidFill>
                        </a:rPr>
                        <a:t>-0,07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2789168"/>
                  </a:ext>
                </a:extLst>
              </a:tr>
            </a:tbl>
          </a:graphicData>
        </a:graphic>
      </p:graphicFrame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912FF0E-F621-492E-91A5-6F1210E4E153}"/>
              </a:ext>
            </a:extLst>
          </p:cNvPr>
          <p:cNvSpPr/>
          <p:nvPr/>
        </p:nvSpPr>
        <p:spPr>
          <a:xfrm>
            <a:off x="149809" y="2270299"/>
            <a:ext cx="3491639" cy="1351722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BF8B6-CACF-4AA8-A1E2-18262677EE24}"/>
              </a:ext>
            </a:extLst>
          </p:cNvPr>
          <p:cNvSpPr txBox="1"/>
          <p:nvPr/>
        </p:nvSpPr>
        <p:spPr>
          <a:xfrm>
            <a:off x="3952063" y="681037"/>
            <a:ext cx="384611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u="sng" dirty="0"/>
              <a:t>Категориальные (в т.ч. бинарные) признаки:</a:t>
            </a:r>
          </a:p>
          <a:p>
            <a:pPr algn="ctr"/>
            <a:endParaRPr lang="en-US" sz="1600" dirty="0"/>
          </a:p>
          <a:p>
            <a:pPr algn="ctr"/>
            <a:r>
              <a:rPr lang="ru-RU" sz="1600" dirty="0"/>
              <a:t>Топ-10 по </a:t>
            </a:r>
            <a:r>
              <a:rPr lang="en-US" sz="1600" dirty="0"/>
              <a:t>Cramer's V </a:t>
            </a:r>
            <a:endParaRPr lang="ru-RU" sz="1600" dirty="0"/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F4DA9D9C-7389-4CCB-8711-8347A403D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423911"/>
              </p:ext>
            </p:extLst>
          </p:nvPr>
        </p:nvGraphicFramePr>
        <p:xfrm>
          <a:off x="3939597" y="2007009"/>
          <a:ext cx="3915382" cy="423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890">
                  <a:extLst>
                    <a:ext uri="{9D8B030D-6E8A-4147-A177-3AD203B41FA5}">
                      <a16:colId xmlns:a16="http://schemas.microsoft.com/office/drawing/2014/main" val="3541139350"/>
                    </a:ext>
                  </a:extLst>
                </a:gridCol>
                <a:gridCol w="1034492">
                  <a:extLst>
                    <a:ext uri="{9D8B030D-6E8A-4147-A177-3AD203B41FA5}">
                      <a16:colId xmlns:a16="http://schemas.microsoft.com/office/drawing/2014/main" val="379264392"/>
                    </a:ext>
                  </a:extLst>
                </a:gridCol>
              </a:tblGrid>
              <a:tr h="294181">
                <a:tc>
                  <a:txBody>
                    <a:bodyPr/>
                    <a:lstStyle/>
                    <a:p>
                      <a:r>
                        <a:rPr lang="ru-RU" sz="1400" b="1" u="sng" dirty="0">
                          <a:solidFill>
                            <a:schemeClr val="tx1"/>
                          </a:solidFill>
                        </a:rPr>
                        <a:t>Признак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sng" dirty="0"/>
                        <a:t>Cramer's V</a:t>
                      </a:r>
                      <a:endParaRPr lang="ru-RU" sz="1400" b="1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8528006"/>
                  </a:ext>
                </a:extLst>
              </a:tr>
              <a:tr h="500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Кол-во записей у пользователя на смены в тот же день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0,64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4349010"/>
                  </a:ext>
                </a:extLst>
              </a:tr>
              <a:tr h="294181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Записывался ли ранее на эту смену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0,64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1781018"/>
                  </a:ext>
                </a:extLst>
              </a:tr>
              <a:tr h="5001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Смена заполнена и пользователь на нее записан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0,58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9652566"/>
                  </a:ext>
                </a:extLst>
              </a:tr>
              <a:tr h="500107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Опыт пользователя с данным работодателем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0,16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7642511"/>
                  </a:ext>
                </a:extLst>
              </a:tr>
              <a:tr h="500107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Опыт пользователя с данным типом задач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0,15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3417987"/>
                  </a:ext>
                </a:extLst>
              </a:tr>
              <a:tr h="500107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Совпадение уровня оплаты смены и предпочтения пользователя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0,12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45840694"/>
                  </a:ext>
                </a:extLst>
              </a:tr>
              <a:tr h="500107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Совпадение длительности смены и предпочтения пользователя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0,12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2789168"/>
                  </a:ext>
                </a:extLst>
              </a:tr>
              <a:tr h="500107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Совпадение по времени суток смены и предпочтения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user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0,09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3819199"/>
                  </a:ext>
                </a:extLst>
              </a:tr>
            </a:tbl>
          </a:graphicData>
        </a:graphic>
      </p:graphicFrame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D4DE0057-1685-4F51-8E73-9E8B94D8AFD7}"/>
              </a:ext>
            </a:extLst>
          </p:cNvPr>
          <p:cNvSpPr/>
          <p:nvPr/>
        </p:nvSpPr>
        <p:spPr>
          <a:xfrm>
            <a:off x="3820336" y="2272832"/>
            <a:ext cx="4146837" cy="1351722"/>
          </a:xfrm>
          <a:prstGeom prst="round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CE0E0C-B181-49F2-A948-E27D7139D555}"/>
              </a:ext>
            </a:extLst>
          </p:cNvPr>
          <p:cNvSpPr txBox="1"/>
          <p:nvPr/>
        </p:nvSpPr>
        <p:spPr>
          <a:xfrm>
            <a:off x="8153138" y="681037"/>
            <a:ext cx="384611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u="sng" dirty="0"/>
              <a:t>Анализ мультиколлинеарности</a:t>
            </a:r>
            <a:endParaRPr lang="en-US" u="sng" dirty="0"/>
          </a:p>
          <a:p>
            <a:pPr algn="ctr"/>
            <a:endParaRPr lang="ru-RU" u="sng" dirty="0"/>
          </a:p>
          <a:p>
            <a:pPr algn="ctr"/>
            <a:r>
              <a:rPr lang="ru-RU" sz="1600" dirty="0"/>
              <a:t>Топ высококоррелированных пар (</a:t>
            </a:r>
            <a:r>
              <a:rPr lang="en-US" sz="1600" dirty="0"/>
              <a:t>r&gt;0,8)</a:t>
            </a:r>
          </a:p>
        </p:txBody>
      </p:sp>
      <p:graphicFrame>
        <p:nvGraphicFramePr>
          <p:cNvPr id="21" name="Таблица 20">
            <a:extLst>
              <a:ext uri="{FF2B5EF4-FFF2-40B4-BE49-F238E27FC236}">
                <a16:creationId xmlns:a16="http://schemas.microsoft.com/office/drawing/2014/main" id="{1F688FD2-D28B-401E-8EE4-AD30B2B4C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627147"/>
              </p:ext>
            </p:extLst>
          </p:nvPr>
        </p:nvGraphicFramePr>
        <p:xfrm>
          <a:off x="8133610" y="1908147"/>
          <a:ext cx="4013915" cy="4434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4786">
                  <a:extLst>
                    <a:ext uri="{9D8B030D-6E8A-4147-A177-3AD203B41FA5}">
                      <a16:colId xmlns:a16="http://schemas.microsoft.com/office/drawing/2014/main" val="594352050"/>
                    </a:ext>
                  </a:extLst>
                </a:gridCol>
                <a:gridCol w="596142">
                  <a:extLst>
                    <a:ext uri="{9D8B030D-6E8A-4147-A177-3AD203B41FA5}">
                      <a16:colId xmlns:a16="http://schemas.microsoft.com/office/drawing/2014/main" val="1009897748"/>
                    </a:ext>
                  </a:extLst>
                </a:gridCol>
                <a:gridCol w="1612987">
                  <a:extLst>
                    <a:ext uri="{9D8B030D-6E8A-4147-A177-3AD203B41FA5}">
                      <a16:colId xmlns:a16="http://schemas.microsoft.com/office/drawing/2014/main" val="1340740115"/>
                    </a:ext>
                  </a:extLst>
                </a:gridCol>
              </a:tblGrid>
              <a:tr h="385296">
                <a:tc>
                  <a:txBody>
                    <a:bodyPr/>
                    <a:lstStyle/>
                    <a:p>
                      <a:r>
                        <a:rPr lang="ru-RU" sz="1400" b="1" u="sng" dirty="0">
                          <a:solidFill>
                            <a:schemeClr val="tx1"/>
                          </a:solidFill>
                        </a:rPr>
                        <a:t>Связанные признаки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u="sng" dirty="0"/>
                        <a:t>r</a:t>
                      </a:r>
                      <a:endParaRPr lang="ru-RU" sz="1400" b="1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/>
                        <a:t>Рекомендация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5775145"/>
                  </a:ext>
                </a:extLst>
              </a:tr>
              <a:tr h="516604">
                <a:tc>
                  <a:txBody>
                    <a:bodyPr/>
                    <a:lstStyle/>
                    <a:p>
                      <a:r>
                        <a:rPr lang="ru-RU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Успешных действий ↔ Доля успехов</a:t>
                      </a:r>
                      <a:endParaRPr lang="ru-RU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0,93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Оставить 1 (доля стабильнее)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9076435"/>
                  </a:ext>
                </a:extLst>
              </a:tr>
              <a:tr h="7901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0" i="0" kern="1200" dirty="0">
                          <a:solidFill>
                            <a:srgbClr val="0F1115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Уже записался ↔ Заполнено и записался</a:t>
                      </a:r>
                    </a:p>
                  </a:txBody>
                  <a:tcPr marR="121920" marT="76200" marB="76200"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0" i="0" kern="1200">
                          <a:solidFill>
                            <a:srgbClr val="0F1115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400" b="0" i="0" kern="1200" dirty="0">
                          <a:solidFill>
                            <a:srgbClr val="0F1115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Удалить второй (избыточен)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4960506"/>
                  </a:ext>
                </a:extLst>
              </a:tr>
              <a:tr h="729323">
                <a:tc>
                  <a:txBody>
                    <a:bodyPr/>
                    <a:lstStyle/>
                    <a:p>
                      <a:r>
                        <a:rPr lang="ru-RU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Доля высокооплач. ↔ Средняя оплата</a:t>
                      </a:r>
                      <a:endParaRPr lang="ru-RU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0,88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Оставить среднюю оплату (более информативна)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901275"/>
                  </a:ext>
                </a:extLst>
              </a:tr>
              <a:tr h="543948">
                <a:tc>
                  <a:txBody>
                    <a:bodyPr/>
                    <a:lstStyle/>
                    <a:p>
                      <a:r>
                        <a:rPr lang="ru-RU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Оплата за час ↔ Выше медианы окна</a:t>
                      </a:r>
                      <a:endParaRPr lang="ru-RU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0,86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Удалить бинарный признак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565482"/>
                  </a:ext>
                </a:extLst>
              </a:tr>
              <a:tr h="516604">
                <a:tc>
                  <a:txBody>
                    <a:bodyPr/>
                    <a:lstStyle/>
                    <a:p>
                      <a:r>
                        <a:rPr lang="ru-RU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Просмотры ↔ Активные дни</a:t>
                      </a:r>
                      <a:endParaRPr lang="ru-RU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0,81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Оставить оба (разный смысл)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712657"/>
                  </a:ext>
                </a:extLst>
              </a:tr>
              <a:tr h="942042">
                <a:tc>
                  <a:txBody>
                    <a:bodyPr/>
                    <a:lstStyle/>
                    <a:p>
                      <a:r>
                        <a:rPr lang="ru-RU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Свободные места ↔ Смена заполнена</a:t>
                      </a:r>
                      <a:endParaRPr lang="ru-RU" sz="14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-0,85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Оставить свободные места (более информативно)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9589217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FA3FB5A4-EA35-4D71-895B-E1A3BA0B4EF8}"/>
              </a:ext>
            </a:extLst>
          </p:cNvPr>
          <p:cNvSpPr txBox="1"/>
          <p:nvPr/>
        </p:nvSpPr>
        <p:spPr>
          <a:xfrm>
            <a:off x="149809" y="6307562"/>
            <a:ext cx="12088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/>
              <a:t>Выявлены коррелирующие пары признаков. Для алгоритмов на деревьях удалили только явные дубликаты признаков, остальные оставили - модель сама отобрала нужные</a:t>
            </a:r>
          </a:p>
        </p:txBody>
      </p:sp>
      <p:pic>
        <p:nvPicPr>
          <p:cNvPr id="23" name="Рисунок 22" descr="Восклицательный знак">
            <a:extLst>
              <a:ext uri="{FF2B5EF4-FFF2-40B4-BE49-F238E27FC236}">
                <a16:creationId xmlns:a16="http://schemas.microsoft.com/office/drawing/2014/main" id="{D9DF11EF-E7B2-4BE2-97EE-82CAE0963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49479" y="742887"/>
            <a:ext cx="413928" cy="366127"/>
          </a:xfrm>
          <a:prstGeom prst="rect">
            <a:avLst/>
          </a:prstGeom>
        </p:spPr>
      </p:pic>
      <p:pic>
        <p:nvPicPr>
          <p:cNvPr id="24" name="Рисунок 23" descr="Восклицательный знак">
            <a:extLst>
              <a:ext uri="{FF2B5EF4-FFF2-40B4-BE49-F238E27FC236}">
                <a16:creationId xmlns:a16="http://schemas.microsoft.com/office/drawing/2014/main" id="{CCCDB2BC-BBC7-423B-A018-33E33E505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7155" y="6447823"/>
            <a:ext cx="413928" cy="36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169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4C2C5F5-14EC-4A51-916A-8DBE8D2843D0}"/>
              </a:ext>
            </a:extLst>
          </p:cNvPr>
          <p:cNvSpPr/>
          <p:nvPr/>
        </p:nvSpPr>
        <p:spPr>
          <a:xfrm>
            <a:off x="327991" y="785078"/>
            <a:ext cx="11552531" cy="508586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9B4284-AF65-487E-BADB-9AF91D6B7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016"/>
            <a:ext cx="10515600" cy="495022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Сравнение моделей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8DD3B2-D42B-447D-B34F-DDD50A9C8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873518"/>
            <a:ext cx="10891887" cy="5385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>
                <a:solidFill>
                  <a:srgbClr val="0F1115"/>
                </a:solidFill>
              </a:rPr>
              <a:t>Цель:</a:t>
            </a:r>
            <a:r>
              <a:rPr lang="ru-RU" sz="1800" dirty="0">
                <a:solidFill>
                  <a:srgbClr val="0F1115"/>
                </a:solidFill>
              </a:rPr>
              <a:t> выбрать наиболее устойчивую модель для </a:t>
            </a:r>
            <a:r>
              <a:rPr lang="en-US" sz="1800" dirty="0">
                <a:solidFill>
                  <a:srgbClr val="0F1115"/>
                </a:solidFill>
              </a:rPr>
              <a:t>production</a:t>
            </a:r>
            <a:r>
              <a:rPr lang="ru-RU" sz="1800" dirty="0">
                <a:solidFill>
                  <a:srgbClr val="0F1115"/>
                </a:solidFill>
              </a:rPr>
              <a:t>, использовать модель для отбора признаков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800" dirty="0">
              <a:solidFill>
                <a:srgbClr val="0F111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4BCCB-5B10-4AC8-80D7-ED9DF90B6273}"/>
              </a:ext>
            </a:extLst>
          </p:cNvPr>
          <p:cNvSpPr txBox="1"/>
          <p:nvPr/>
        </p:nvSpPr>
        <p:spPr>
          <a:xfrm>
            <a:off x="361508" y="1760985"/>
            <a:ext cx="468028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0" dirty="0">
                <a:solidFill>
                  <a:srgbClr val="141414"/>
                </a:solidFill>
              </a:rPr>
              <a:t>
</a:t>
            </a:r>
            <a:r>
              <a:rPr lang="ru-RU" b="0" dirty="0">
                <a:solidFill>
                  <a:srgbClr val="141414"/>
                </a:solidFill>
              </a:rPr>
              <a:t>Основной критерий выбора — устойчивый ROC-AUC при работе с дисбалансом классов.</a:t>
            </a:r>
            <a:r>
              <a:rPr lang="ru-RU" sz="1600" b="0" dirty="0">
                <a:solidFill>
                  <a:srgbClr val="141414"/>
                </a:solidFill>
              </a:rPr>
              <a:t>
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D51E91D-44B9-432D-B0A1-C283A055008D}"/>
              </a:ext>
            </a:extLst>
          </p:cNvPr>
          <p:cNvCxnSpPr>
            <a:cxnSpLocks/>
          </p:cNvCxnSpPr>
          <p:nvPr/>
        </p:nvCxnSpPr>
        <p:spPr>
          <a:xfrm>
            <a:off x="5431518" y="1382104"/>
            <a:ext cx="6678" cy="4802958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1C1617F6-97FD-4A71-994E-FFE38D085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400904"/>
              </p:ext>
            </p:extLst>
          </p:nvPr>
        </p:nvGraphicFramePr>
        <p:xfrm>
          <a:off x="5720964" y="1599111"/>
          <a:ext cx="6312007" cy="37589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1234">
                  <a:extLst>
                    <a:ext uri="{9D8B030D-6E8A-4147-A177-3AD203B41FA5}">
                      <a16:colId xmlns:a16="http://schemas.microsoft.com/office/drawing/2014/main" val="3903835935"/>
                    </a:ext>
                  </a:extLst>
                </a:gridCol>
                <a:gridCol w="1424307">
                  <a:extLst>
                    <a:ext uri="{9D8B030D-6E8A-4147-A177-3AD203B41FA5}">
                      <a16:colId xmlns:a16="http://schemas.microsoft.com/office/drawing/2014/main" val="3058992437"/>
                    </a:ext>
                  </a:extLst>
                </a:gridCol>
                <a:gridCol w="1347537">
                  <a:extLst>
                    <a:ext uri="{9D8B030D-6E8A-4147-A177-3AD203B41FA5}">
                      <a16:colId xmlns:a16="http://schemas.microsoft.com/office/drawing/2014/main" val="3320915629"/>
                    </a:ext>
                  </a:extLst>
                </a:gridCol>
                <a:gridCol w="1348929">
                  <a:extLst>
                    <a:ext uri="{9D8B030D-6E8A-4147-A177-3AD203B41FA5}">
                      <a16:colId xmlns:a16="http://schemas.microsoft.com/office/drawing/2014/main" val="3029443908"/>
                    </a:ext>
                  </a:extLst>
                </a:gridCol>
              </a:tblGrid>
              <a:tr h="512502">
                <a:tc>
                  <a:txBody>
                    <a:bodyPr/>
                    <a:lstStyle/>
                    <a:p>
                      <a:r>
                        <a:rPr lang="ru-RU" sz="1600" u="sng" dirty="0"/>
                        <a:t>Модель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sng" dirty="0"/>
                        <a:t>ROC-AUC</a:t>
                      </a:r>
                      <a:endParaRPr lang="ru-RU" sz="1600" u="sng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sng" dirty="0"/>
                        <a:t>Precision</a:t>
                      </a:r>
                      <a:endParaRPr lang="ru-RU" sz="1600" u="sng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sng" dirty="0"/>
                        <a:t>Recall</a:t>
                      </a:r>
                      <a:endParaRPr lang="ru-RU" sz="1600" u="sng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286968"/>
                  </a:ext>
                </a:extLst>
              </a:tr>
              <a:tr h="556988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CatBoost Weighted</a:t>
                      </a:r>
                      <a:endParaRPr lang="ru-RU" sz="16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0.93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195021"/>
                  </a:ext>
                </a:extLst>
              </a:tr>
              <a:tr h="5251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dirty="0">
                          <a:effectLst/>
                        </a:rPr>
                        <a:t>Decision Tree (Bal)</a:t>
                      </a:r>
                    </a:p>
                  </a:txBody>
                  <a:tcPr marL="76200" marR="76200" marT="38100" marB="38100"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ru-RU" sz="1600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502936"/>
                  </a:ext>
                </a:extLst>
              </a:tr>
              <a:tr h="541074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 Balanced</a:t>
                      </a:r>
                      <a:endParaRPr lang="ru-RU" sz="16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0.953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0.83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320272"/>
                  </a:ext>
                </a:extLst>
              </a:tr>
              <a:tr h="541075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LogReg (Bal)</a:t>
                      </a:r>
                      <a:endParaRPr lang="ru-RU" sz="16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962489"/>
                  </a:ext>
                </a:extLst>
              </a:tr>
              <a:tr h="541075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 (Bal)</a:t>
                      </a:r>
                      <a:endParaRPr lang="ru-RU" sz="16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0.94</a:t>
                      </a:r>
                      <a:r>
                        <a:rPr lang="en-US" sz="1600" dirty="0">
                          <a:effectLst/>
                        </a:rPr>
                        <a:t>7</a:t>
                      </a:r>
                      <a:endParaRPr lang="ru-RU" sz="1600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0.176</a:t>
                      </a:r>
                      <a:endParaRPr lang="ru-RU" sz="1600" dirty="0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573021"/>
                  </a:ext>
                </a:extLst>
              </a:tr>
              <a:tr h="541075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endParaRPr lang="ru-RU" sz="16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0.84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0.43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216509"/>
                  </a:ext>
                </a:extLst>
              </a:tr>
            </a:tbl>
          </a:graphicData>
        </a:graphic>
      </p:graphicFrame>
      <p:pic>
        <p:nvPicPr>
          <p:cNvPr id="14" name="Рисунок 13" descr="Знак одобрения">
            <a:extLst>
              <a:ext uri="{FF2B5EF4-FFF2-40B4-BE49-F238E27FC236}">
                <a16:creationId xmlns:a16="http://schemas.microsoft.com/office/drawing/2014/main" id="{17997863-E0CD-441F-BB00-2CE6F5F39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1964" y="3207789"/>
            <a:ext cx="318052" cy="397565"/>
          </a:xfrm>
          <a:prstGeom prst="rect">
            <a:avLst/>
          </a:prstGeom>
        </p:spPr>
      </p:pic>
      <p:pic>
        <p:nvPicPr>
          <p:cNvPr id="21" name="Рисунок 20" descr="Знак одобрения">
            <a:extLst>
              <a:ext uri="{FF2B5EF4-FFF2-40B4-BE49-F238E27FC236}">
                <a16:creationId xmlns:a16="http://schemas.microsoft.com/office/drawing/2014/main" id="{EDF2B443-3C48-4CB1-97EA-AA116199B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6407" y="3816774"/>
            <a:ext cx="318052" cy="397565"/>
          </a:xfrm>
          <a:prstGeom prst="rect">
            <a:avLst/>
          </a:prstGeom>
        </p:spPr>
      </p:pic>
      <p:pic>
        <p:nvPicPr>
          <p:cNvPr id="22" name="Рисунок 21" descr="Знак одобрения">
            <a:extLst>
              <a:ext uri="{FF2B5EF4-FFF2-40B4-BE49-F238E27FC236}">
                <a16:creationId xmlns:a16="http://schemas.microsoft.com/office/drawing/2014/main" id="{F75B0945-E470-4DDF-8F07-211681518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7830" y="4861324"/>
            <a:ext cx="318052" cy="397565"/>
          </a:xfrm>
          <a:prstGeom prst="rect">
            <a:avLst/>
          </a:prstGeom>
        </p:spPr>
      </p:pic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9FC9DBBA-5EC0-47E7-B659-0303CD4CB874}"/>
              </a:ext>
            </a:extLst>
          </p:cNvPr>
          <p:cNvSpPr/>
          <p:nvPr/>
        </p:nvSpPr>
        <p:spPr>
          <a:xfrm>
            <a:off x="5616366" y="3101416"/>
            <a:ext cx="6521201" cy="697523"/>
          </a:xfrm>
          <a:prstGeom prst="roundRect">
            <a:avLst/>
          </a:prstGeom>
          <a:solidFill>
            <a:schemeClr val="accent6">
              <a:lumMod val="40000"/>
              <a:lumOff val="60000"/>
              <a:alpha val="17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72DF2D-8607-47F6-843C-BE2E17DF6E1A}"/>
              </a:ext>
            </a:extLst>
          </p:cNvPr>
          <p:cNvSpPr txBox="1"/>
          <p:nvPr/>
        </p:nvSpPr>
        <p:spPr>
          <a:xfrm>
            <a:off x="5623044" y="5568588"/>
            <a:ext cx="6409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Итоговый вывод: для </a:t>
            </a:r>
            <a:r>
              <a:rPr lang="en-US" b="1" dirty="0"/>
              <a:t>production </a:t>
            </a:r>
            <a:r>
              <a:rPr lang="ru-RU" b="1" dirty="0"/>
              <a:t>использовать модель </a:t>
            </a:r>
            <a:r>
              <a:rPr lang="en-US" b="1" dirty="0"/>
              <a:t>LightGBM Balanced</a:t>
            </a:r>
            <a:endParaRPr lang="ru-RU" b="1" dirty="0"/>
          </a:p>
          <a:p>
            <a:r>
              <a:rPr lang="ru-RU" dirty="0"/>
              <a:t>Данная модель наиболее сбалансирована</a:t>
            </a:r>
            <a:r>
              <a:rPr lang="en-US" dirty="0"/>
              <a:t> </a:t>
            </a:r>
            <a:r>
              <a:rPr lang="ru-RU" dirty="0"/>
              <a:t>и подходит для реальных задач.</a:t>
            </a:r>
            <a:endParaRPr lang="ru-RU" sz="16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BA9D986-E3ED-421A-B91C-53F62BC10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12" y="3367079"/>
            <a:ext cx="4848662" cy="289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635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521C9-10FC-4CBD-87ED-034D243AB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671"/>
            <a:ext cx="10515600" cy="57755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Отбор признаков. Этап №2: на основе </a:t>
            </a:r>
            <a:r>
              <a:rPr lang="en-US" sz="2800" b="1" dirty="0">
                <a:latin typeface="+mn-lt"/>
              </a:rPr>
              <a:t>feature importance</a:t>
            </a:r>
            <a:r>
              <a:rPr lang="ru-RU" sz="2800" b="1" dirty="0">
                <a:latin typeface="+mn-lt"/>
              </a:rPr>
              <a:t> и </a:t>
            </a:r>
            <a:r>
              <a:rPr lang="en-US" sz="2800" b="1" dirty="0">
                <a:latin typeface="+mn-lt"/>
              </a:rPr>
              <a:t>PSI</a:t>
            </a:r>
            <a:endParaRPr lang="ru-RU" sz="2800" b="1" dirty="0">
              <a:latin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C608DA-ED27-4494-B814-3FC72912D2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t="3180" r="1632"/>
          <a:stretch/>
        </p:blipFill>
        <p:spPr>
          <a:xfrm>
            <a:off x="76713" y="1152939"/>
            <a:ext cx="5817191" cy="5496339"/>
          </a:xfrm>
          <a:prstGeom prst="rect">
            <a:avLst/>
          </a:prstGeom>
        </p:spPr>
      </p:pic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7EB9520-586A-4CB0-9C84-5C47B7291ED1}"/>
              </a:ext>
            </a:extLst>
          </p:cNvPr>
          <p:cNvSpPr/>
          <p:nvPr/>
        </p:nvSpPr>
        <p:spPr>
          <a:xfrm>
            <a:off x="1015704" y="485486"/>
            <a:ext cx="10160591" cy="438959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DD</a:t>
            </a:r>
            <a:endParaRPr lang="ru-R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E326C3-EE69-46D5-A5DD-117AE30098E9}"/>
              </a:ext>
            </a:extLst>
          </p:cNvPr>
          <p:cNvSpPr txBox="1"/>
          <p:nvPr/>
        </p:nvSpPr>
        <p:spPr>
          <a:xfrm>
            <a:off x="700965" y="520302"/>
            <a:ext cx="10637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Результат</a:t>
            </a:r>
            <a:r>
              <a:rPr lang="ru-RU" dirty="0"/>
              <a:t>: Сократили кол-во признаков с 50 до 26 (отсеяли избыточные и шумовые признаки)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F0F8D-640E-40DF-A70E-5AAC595A5BC1}"/>
              </a:ext>
            </a:extLst>
          </p:cNvPr>
          <p:cNvSpPr txBox="1"/>
          <p:nvPr/>
        </p:nvSpPr>
        <p:spPr>
          <a:xfrm>
            <a:off x="6649277" y="992356"/>
            <a:ext cx="5029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/>
              <a:t>Расшифровка названий топ-10 признаков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E7D2B38D-AF91-4ACE-8932-134AD6806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108139"/>
              </p:ext>
            </p:extLst>
          </p:nvPr>
        </p:nvGraphicFramePr>
        <p:xfrm>
          <a:off x="6019801" y="1361690"/>
          <a:ext cx="6105424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709">
                  <a:extLst>
                    <a:ext uri="{9D8B030D-6E8A-4147-A177-3AD203B41FA5}">
                      <a16:colId xmlns:a16="http://schemas.microsoft.com/office/drawing/2014/main" val="250565816"/>
                    </a:ext>
                  </a:extLst>
                </a:gridCol>
                <a:gridCol w="2536151">
                  <a:extLst>
                    <a:ext uri="{9D8B030D-6E8A-4147-A177-3AD203B41FA5}">
                      <a16:colId xmlns:a16="http://schemas.microsoft.com/office/drawing/2014/main" val="94518893"/>
                    </a:ext>
                  </a:extLst>
                </a:gridCol>
                <a:gridCol w="2762564">
                  <a:extLst>
                    <a:ext uri="{9D8B030D-6E8A-4147-A177-3AD203B41FA5}">
                      <a16:colId xmlns:a16="http://schemas.microsoft.com/office/drawing/2014/main" val="3301891931"/>
                    </a:ext>
                  </a:extLst>
                </a:gridCol>
              </a:tblGrid>
              <a:tr h="286544">
                <a:tc>
                  <a:txBody>
                    <a:bodyPr/>
                    <a:lstStyle/>
                    <a:p>
                      <a:r>
                        <a:rPr lang="ru-RU" sz="1600" b="1" u="sng" dirty="0"/>
                        <a:t>Место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u="sng" dirty="0"/>
                        <a:t>Признак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u="sng" dirty="0"/>
                        <a:t>Содержание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166875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r>
                        <a:rPr lang="ru-RU" sz="1600" dirty="0"/>
                        <a:t>1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reward_per_hour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Оплата в час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935563"/>
                  </a:ext>
                </a:extLst>
              </a:tr>
              <a:tr h="494939">
                <a:tc>
                  <a:txBody>
                    <a:bodyPr/>
                    <a:lstStyle/>
                    <a:p>
                      <a:r>
                        <a:rPr lang="ru-RU" sz="1600" dirty="0"/>
                        <a:t>2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user_total_views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</a:rPr>
                        <a:t>Кол-во просмотренных смен пользователем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310695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r>
                        <a:rPr lang="ru-RU" sz="1600" dirty="0"/>
                        <a:t>3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user_success_rate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Доля успешных записей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198317"/>
                  </a:ext>
                </a:extLst>
              </a:tr>
              <a:tr h="494939">
                <a:tc>
                  <a:txBody>
                    <a:bodyPr/>
                    <a:lstStyle/>
                    <a:p>
                      <a:r>
                        <a:rPr lang="ru-RU" sz="1600" dirty="0"/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shift_total_views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</a:rPr>
                        <a:t>Кол-во просмотров смены пользователями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331020"/>
                  </a:ext>
                </a:extLst>
              </a:tr>
              <a:tr h="494939">
                <a:tc>
                  <a:txBody>
                    <a:bodyPr/>
                    <a:lstStyle/>
                    <a:p>
                      <a:r>
                        <a:rPr lang="ru-RU" sz="1600" dirty="0"/>
                        <a:t>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user_avg_reward_per_hour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Средний доход пользователя в час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1558696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r>
                        <a:rPr lang="ru-RU" sz="1600" dirty="0"/>
                        <a:t>6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location_id_shift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Локация смены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283770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r>
                        <a:rPr lang="ru-RU" sz="1600" dirty="0"/>
                        <a:t>7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shift_hour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Время начала смены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2529779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r>
                        <a:rPr lang="ru-RU" sz="1600" dirty="0"/>
                        <a:t>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free_spots_at_prediction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Осталось мест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009971"/>
                  </a:ext>
                </a:extLst>
              </a:tr>
              <a:tr h="494939">
                <a:tc>
                  <a:txBody>
                    <a:bodyPr/>
                    <a:lstStyle/>
                    <a:p>
                      <a:r>
                        <a:rPr lang="ru-RU" sz="1600" dirty="0"/>
                        <a:t>9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user_location_experience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Работал ли </a:t>
                      </a:r>
                      <a:r>
                        <a:rPr lang="en-US" sz="1600" dirty="0"/>
                        <a:t>user </a:t>
                      </a:r>
                      <a:r>
                        <a:rPr lang="ru-RU" sz="1600" dirty="0"/>
                        <a:t> в данной локации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659814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r>
                        <a:rPr lang="ru-RU" sz="1600" dirty="0"/>
                        <a:t>10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i="0" dirty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user_weekend_ratio</a:t>
                      </a:r>
                      <a:endParaRPr lang="ru-RU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Как часто работает в будни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56646101"/>
                  </a:ext>
                </a:extLst>
              </a:tr>
            </a:tbl>
          </a:graphicData>
        </a:graphic>
      </p:graphicFrame>
      <p:pic>
        <p:nvPicPr>
          <p:cNvPr id="12" name="Рисунок 11" descr="Кубок">
            <a:extLst>
              <a:ext uri="{FF2B5EF4-FFF2-40B4-BE49-F238E27FC236}">
                <a16:creationId xmlns:a16="http://schemas.microsoft.com/office/drawing/2014/main" id="{7CE02F35-530F-4BBC-8E1F-4FF811366A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6226864" y="1715024"/>
            <a:ext cx="329648" cy="341495"/>
          </a:xfrm>
          <a:prstGeom prst="rect">
            <a:avLst/>
          </a:prstGeom>
        </p:spPr>
      </p:pic>
      <p:pic>
        <p:nvPicPr>
          <p:cNvPr id="20" name="Рисунок 19" descr="Медаль">
            <a:extLst>
              <a:ext uri="{FF2B5EF4-FFF2-40B4-BE49-F238E27FC236}">
                <a16:creationId xmlns:a16="http://schemas.microsoft.com/office/drawing/2014/main" id="{F5BC2DD3-0A3F-4C53-857A-7A75341979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5099" y="2145041"/>
            <a:ext cx="385861" cy="339940"/>
          </a:xfrm>
          <a:prstGeom prst="rect">
            <a:avLst/>
          </a:prstGeom>
        </p:spPr>
      </p:pic>
      <p:pic>
        <p:nvPicPr>
          <p:cNvPr id="25" name="Рисунок 24" descr="Медаль">
            <a:extLst>
              <a:ext uri="{FF2B5EF4-FFF2-40B4-BE49-F238E27FC236}">
                <a16:creationId xmlns:a16="http://schemas.microsoft.com/office/drawing/2014/main" id="{02AFEBBD-320D-4A5D-8DD1-049F942597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3334" y="2631300"/>
            <a:ext cx="387626" cy="34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779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4C2C5F5-14EC-4A51-916A-8DBE8D2843D0}"/>
              </a:ext>
            </a:extLst>
          </p:cNvPr>
          <p:cNvSpPr/>
          <p:nvPr/>
        </p:nvSpPr>
        <p:spPr>
          <a:xfrm>
            <a:off x="327991" y="785078"/>
            <a:ext cx="11552531" cy="508586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9B4284-AF65-487E-BADB-9AF91D6B7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016"/>
            <a:ext cx="10515600" cy="495022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latin typeface="+mn-lt"/>
              </a:rPr>
              <a:t>Сокращение переобучения модели без потери качества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8DD3B2-D42B-447D-B34F-DDD50A9C8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873518"/>
            <a:ext cx="11402096" cy="5385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>
                <a:solidFill>
                  <a:srgbClr val="0F1115"/>
                </a:solidFill>
              </a:rPr>
              <a:t>Цель:</a:t>
            </a:r>
            <a:r>
              <a:rPr lang="ru-RU" sz="1800" dirty="0">
                <a:solidFill>
                  <a:srgbClr val="0F1115"/>
                </a:solidFill>
              </a:rPr>
              <a:t> сократить разрыв между </a:t>
            </a:r>
            <a:r>
              <a:rPr lang="en-US" sz="1800" dirty="0">
                <a:solidFill>
                  <a:srgbClr val="0F1115"/>
                </a:solidFill>
              </a:rPr>
              <a:t>Train </a:t>
            </a:r>
            <a:r>
              <a:rPr lang="ru-RU" sz="1800" dirty="0">
                <a:solidFill>
                  <a:srgbClr val="0F1115"/>
                </a:solidFill>
              </a:rPr>
              <a:t>и </a:t>
            </a:r>
            <a:r>
              <a:rPr lang="en-US" sz="1800" dirty="0">
                <a:solidFill>
                  <a:srgbClr val="0F1115"/>
                </a:solidFill>
              </a:rPr>
              <a:t>Test </a:t>
            </a:r>
            <a:r>
              <a:rPr lang="ru-RU" sz="1800" dirty="0">
                <a:solidFill>
                  <a:srgbClr val="0F1115"/>
                </a:solidFill>
              </a:rPr>
              <a:t>без потери качества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800" dirty="0">
              <a:solidFill>
                <a:srgbClr val="0F1115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Проведен направленный подбор гиперпараметров (Optuna) с фокусом на жесткую регуляризацию.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Ограничена максимальная глубина деревьев (</a:t>
            </a:r>
            <a:r>
              <a:rPr lang="ru-RU" altLang="ru-RU" sz="1800" dirty="0">
                <a:latin typeface="Google Sans"/>
              </a:rPr>
              <a:t>max_depth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 3–10) и снизили долю используемых признаков (</a:t>
            </a:r>
            <a:r>
              <a:rPr lang="ru-RU" altLang="ru-RU" sz="1800" dirty="0">
                <a:latin typeface="Google Sans"/>
              </a:rPr>
              <a:t>feature_fraction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), чтобы модель не зазубривала тренировочный датасет.</a:t>
            </a:r>
            <a:r>
              <a:rPr kumimoji="0" lang="ru-RU" altLang="ru-RU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ru-RU" altLang="ru-RU" sz="105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1800" b="1" dirty="0">
                <a:latin typeface="Google Sans"/>
              </a:rPr>
              <a:t>Итог</a:t>
            </a:r>
            <a:r>
              <a:rPr lang="ru-RU" sz="1800" dirty="0">
                <a:latin typeface="Google Sans"/>
              </a:rPr>
              <a:t>: Модель стала стабильнее на 52%, сохранив точность на тесте (ROC-AUC ~0.954)</a:t>
            </a:r>
            <a:endParaRPr lang="ru-RU" altLang="ru-RU" sz="1800" dirty="0">
              <a:latin typeface="Google Sans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800" dirty="0">
              <a:solidFill>
                <a:srgbClr val="0F1115"/>
              </a:solidFill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6F44C21-13FE-4A44-A6A5-F60FFF91A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68" y="3128367"/>
            <a:ext cx="10809586" cy="354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859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9B4284-AF65-487E-BADB-9AF91D6B7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186016"/>
            <a:ext cx="10891887" cy="995508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+mn-lt"/>
              </a:rPr>
              <a:t>Промежуточный итог: Модель готова к использованию в реальных условиях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4BCCB-5B10-4AC8-80D7-ED9DF90B6273}"/>
              </a:ext>
            </a:extLst>
          </p:cNvPr>
          <p:cNvSpPr txBox="1"/>
          <p:nvPr/>
        </p:nvSpPr>
        <p:spPr>
          <a:xfrm>
            <a:off x="297744" y="1469138"/>
            <a:ext cx="5233824" cy="510909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ru-RU" sz="4000" b="1" u="none" strike="noStrike" dirty="0">
                <a:solidFill>
                  <a:schemeClr val="accent6"/>
                </a:solidFill>
                <a:effectLst/>
              </a:rPr>
              <a:t>0.925  /  0.954</a:t>
            </a:r>
          </a:p>
          <a:p>
            <a:r>
              <a:rPr lang="ru-RU" sz="2000" b="0" u="none" strike="noStrike" dirty="0">
                <a:effectLst/>
              </a:rPr>
              <a:t>ROC-AUC на </a:t>
            </a:r>
            <a:r>
              <a:rPr lang="en-US" sz="2000" b="0" u="none" strike="noStrike" dirty="0">
                <a:effectLst/>
              </a:rPr>
              <a:t>Test </a:t>
            </a:r>
            <a:r>
              <a:rPr lang="ru-RU" sz="2000" b="0" u="none" strike="noStrike" dirty="0">
                <a:effectLst/>
              </a:rPr>
              <a:t>с </a:t>
            </a:r>
            <a:r>
              <a:rPr lang="en-US" sz="2000" dirty="0"/>
              <a:t>has_apply_before</a:t>
            </a:r>
            <a:r>
              <a:rPr lang="ru-RU" sz="2000" dirty="0"/>
              <a:t> == 0 </a:t>
            </a:r>
            <a:endParaRPr lang="en-US" sz="2000" dirty="0"/>
          </a:p>
          <a:p>
            <a:r>
              <a:rPr lang="ru-RU" sz="2000" b="1" dirty="0"/>
              <a:t>/</a:t>
            </a:r>
            <a:r>
              <a:rPr lang="ru-RU" sz="2000" dirty="0"/>
              <a:t> </a:t>
            </a:r>
            <a:r>
              <a:rPr lang="ru-RU" sz="2000" b="0" u="none" strike="noStrike" dirty="0">
                <a:effectLst/>
              </a:rPr>
              <a:t>ROC-AUC на </a:t>
            </a:r>
            <a:r>
              <a:rPr lang="en-US" sz="2000" b="0" u="none" strike="noStrike" dirty="0">
                <a:effectLst/>
              </a:rPr>
              <a:t>Test </a:t>
            </a:r>
            <a:r>
              <a:rPr lang="ru-RU" sz="2000" b="0" u="none" strike="noStrike" dirty="0">
                <a:effectLst/>
              </a:rPr>
              <a:t>с </a:t>
            </a:r>
            <a:r>
              <a:rPr lang="en-US" sz="2000" dirty="0"/>
              <a:t>has_apply_before</a:t>
            </a:r>
            <a:r>
              <a:rPr lang="ru-RU" sz="2000" dirty="0"/>
              <a:t> == </a:t>
            </a:r>
            <a:r>
              <a:rPr lang="en-US" sz="2000" dirty="0"/>
              <a:t>1</a:t>
            </a:r>
            <a:r>
              <a:rPr lang="ru-RU" sz="2000" dirty="0"/>
              <a:t> </a:t>
            </a:r>
            <a:endParaRPr lang="en-US" sz="2000" dirty="0"/>
          </a:p>
          <a:p>
            <a:endParaRPr lang="ru-RU" sz="2200" b="0" u="none" strike="noStrike" dirty="0">
              <a:effectLst/>
            </a:endParaRPr>
          </a:p>
          <a:p>
            <a:r>
              <a:rPr lang="ru-RU" sz="4000" b="1" u="none" strike="noStrike" dirty="0">
                <a:solidFill>
                  <a:schemeClr val="accent6"/>
                </a:solidFill>
                <a:effectLst/>
              </a:rPr>
              <a:t>40.0%  </a:t>
            </a:r>
            <a:r>
              <a:rPr lang="en-US" sz="4000" b="1" u="none" strike="noStrike" dirty="0">
                <a:solidFill>
                  <a:schemeClr val="accent6"/>
                </a:solidFill>
                <a:effectLst/>
              </a:rPr>
              <a:t>/</a:t>
            </a:r>
            <a:r>
              <a:rPr lang="ru-RU" sz="4000" b="1" u="none" strike="noStrike" dirty="0">
                <a:solidFill>
                  <a:schemeClr val="accent6"/>
                </a:solidFill>
                <a:effectLst/>
              </a:rPr>
              <a:t>  </a:t>
            </a:r>
            <a:r>
              <a:rPr lang="en-US" sz="4000" b="1" u="none" strike="noStrike" dirty="0">
                <a:solidFill>
                  <a:schemeClr val="accent6"/>
                </a:solidFill>
                <a:effectLst/>
              </a:rPr>
              <a:t>87</a:t>
            </a:r>
            <a:r>
              <a:rPr lang="ru-RU" sz="4000" b="1" u="none" strike="noStrike" dirty="0">
                <a:solidFill>
                  <a:schemeClr val="accent6"/>
                </a:solidFill>
                <a:effectLst/>
              </a:rPr>
              <a:t>.</a:t>
            </a:r>
            <a:r>
              <a:rPr lang="en-US" sz="4000" b="1" u="none" strike="noStrike" dirty="0">
                <a:solidFill>
                  <a:schemeClr val="accent6"/>
                </a:solidFill>
                <a:effectLst/>
              </a:rPr>
              <a:t>0%</a:t>
            </a:r>
            <a:endParaRPr lang="ru-RU" sz="4000" b="1" u="none" strike="noStrike" dirty="0">
              <a:solidFill>
                <a:schemeClr val="accent6"/>
              </a:solidFill>
              <a:effectLst/>
            </a:endParaRPr>
          </a:p>
          <a:p>
            <a:r>
              <a:rPr lang="ru-RU" sz="2000" b="0" u="none" strike="noStrike" dirty="0">
                <a:effectLst/>
              </a:rPr>
              <a:t>Precision на </a:t>
            </a:r>
            <a:r>
              <a:rPr lang="en-US" sz="2000" b="0" u="none" strike="noStrike" dirty="0">
                <a:effectLst/>
              </a:rPr>
              <a:t>Test </a:t>
            </a:r>
            <a:r>
              <a:rPr lang="ru-RU" sz="2000" b="0" u="none" strike="noStrike" dirty="0">
                <a:effectLst/>
              </a:rPr>
              <a:t>с </a:t>
            </a:r>
            <a:r>
              <a:rPr lang="en-US" sz="2000" dirty="0"/>
              <a:t>has_apply_before</a:t>
            </a:r>
            <a:r>
              <a:rPr lang="ru-RU" sz="2000" dirty="0"/>
              <a:t> == 0 </a:t>
            </a:r>
            <a:endParaRPr lang="en-US" sz="2000" dirty="0"/>
          </a:p>
          <a:p>
            <a:r>
              <a:rPr lang="ru-RU" sz="2000" b="1" dirty="0"/>
              <a:t>/</a:t>
            </a:r>
            <a:r>
              <a:rPr lang="ru-RU" sz="2000" dirty="0"/>
              <a:t> </a:t>
            </a:r>
            <a:r>
              <a:rPr lang="ru-RU" sz="2000" b="0" u="none" strike="noStrike" dirty="0">
                <a:effectLst/>
              </a:rPr>
              <a:t>Precision на </a:t>
            </a:r>
            <a:r>
              <a:rPr lang="en-US" sz="2000" b="0" u="none" strike="noStrike" dirty="0">
                <a:effectLst/>
              </a:rPr>
              <a:t>Test </a:t>
            </a:r>
            <a:r>
              <a:rPr lang="ru-RU" sz="2000" b="0" u="none" strike="noStrike" dirty="0">
                <a:effectLst/>
              </a:rPr>
              <a:t>с </a:t>
            </a:r>
            <a:r>
              <a:rPr lang="en-US" sz="2000" dirty="0"/>
              <a:t>has_apply_before</a:t>
            </a:r>
            <a:r>
              <a:rPr lang="ru-RU" sz="2000" dirty="0"/>
              <a:t> == </a:t>
            </a:r>
            <a:r>
              <a:rPr lang="en-US" sz="2000" dirty="0"/>
              <a:t>1</a:t>
            </a:r>
            <a:r>
              <a:rPr lang="ru-RU" sz="2000" dirty="0"/>
              <a:t> </a:t>
            </a:r>
            <a:endParaRPr lang="en-US" sz="2000" dirty="0"/>
          </a:p>
          <a:p>
            <a:endParaRPr lang="ru-RU" sz="2400" b="0" u="none" strike="noStrike" dirty="0">
              <a:effectLst/>
            </a:endParaRPr>
          </a:p>
          <a:p>
            <a:r>
              <a:rPr lang="ru-RU" sz="2400" b="0" u="none" strike="noStrike" dirty="0">
                <a:effectLst/>
              </a:rPr>
              <a:t>💡 </a:t>
            </a:r>
            <a:r>
              <a:rPr lang="ru-RU" sz="4000" b="1" u="none" strike="noStrike" dirty="0">
                <a:solidFill>
                  <a:schemeClr val="accent6"/>
                </a:solidFill>
                <a:effectLst/>
              </a:rPr>
              <a:t>Бизнес-контекст</a:t>
            </a:r>
            <a:endParaRPr lang="en-US" sz="4000" dirty="0">
              <a:solidFill>
                <a:schemeClr val="accent6"/>
              </a:solidFill>
            </a:endParaRPr>
          </a:p>
          <a:p>
            <a:r>
              <a:rPr lang="ru-RU" sz="2000" b="0" u="none" strike="noStrike" dirty="0">
                <a:effectLst/>
              </a:rPr>
              <a:t>При базовой конверсии выборки всего </a:t>
            </a:r>
            <a:r>
              <a:rPr lang="ru-RU" sz="2000" b="1" u="none" strike="noStrike" dirty="0">
                <a:effectLst/>
              </a:rPr>
              <a:t>1.14%</a:t>
            </a:r>
            <a:r>
              <a:rPr lang="ru-RU" sz="2000" b="0" u="none" strike="noStrike" dirty="0">
                <a:effectLst/>
              </a:rPr>
              <a:t>, точность модели в 40% означает, что эффективность коммуникации возрастает в </a:t>
            </a:r>
            <a:r>
              <a:rPr lang="ru-RU" sz="2000" b="1" u="none" strike="noStrike" dirty="0">
                <a:effectLst/>
              </a:rPr>
              <a:t>35 раз</a:t>
            </a:r>
            <a:r>
              <a:rPr lang="ru-RU" sz="2000" b="0" u="none" strike="noStrike" dirty="0">
                <a:effectLst/>
              </a:rPr>
              <a:t> относительно случайного выбора.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72DF2D-8607-47F6-843C-BE2E17DF6E1A}"/>
              </a:ext>
            </a:extLst>
          </p:cNvPr>
          <p:cNvSpPr txBox="1"/>
          <p:nvPr/>
        </p:nvSpPr>
        <p:spPr>
          <a:xfrm>
            <a:off x="6551554" y="1485949"/>
            <a:ext cx="5342702" cy="22313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accent6"/>
                </a:solidFill>
              </a:rPr>
              <a:t>Следующие шаги:</a:t>
            </a:r>
          </a:p>
          <a:p>
            <a:endParaRPr lang="ru-RU" sz="2400" b="1" dirty="0"/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altLang="ru-RU" sz="1700" dirty="0"/>
          </a:p>
          <a:p>
            <a:endParaRPr lang="ru-RU" sz="1600" b="1" dirty="0"/>
          </a:p>
        </p:txBody>
      </p:sp>
      <p:graphicFrame>
        <p:nvGraphicFramePr>
          <p:cNvPr id="11" name="Таблица 11">
            <a:extLst>
              <a:ext uri="{FF2B5EF4-FFF2-40B4-BE49-F238E27FC236}">
                <a16:creationId xmlns:a16="http://schemas.microsoft.com/office/drawing/2014/main" id="{B4314895-60C2-4123-AC72-CA6D5F1AF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933065"/>
              </p:ext>
            </p:extLst>
          </p:nvPr>
        </p:nvGraphicFramePr>
        <p:xfrm>
          <a:off x="6551554" y="2194560"/>
          <a:ext cx="5266272" cy="4291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0243">
                  <a:extLst>
                    <a:ext uri="{9D8B030D-6E8A-4147-A177-3AD203B41FA5}">
                      <a16:colId xmlns:a16="http://schemas.microsoft.com/office/drawing/2014/main" val="4212535063"/>
                    </a:ext>
                  </a:extLst>
                </a:gridCol>
                <a:gridCol w="4596029">
                  <a:extLst>
                    <a:ext uri="{9D8B030D-6E8A-4147-A177-3AD203B41FA5}">
                      <a16:colId xmlns:a16="http://schemas.microsoft.com/office/drawing/2014/main" val="964483066"/>
                    </a:ext>
                  </a:extLst>
                </a:gridCol>
              </a:tblGrid>
              <a:tr h="1430445">
                <a:tc>
                  <a:txBody>
                    <a:bodyPr/>
                    <a:lstStyle/>
                    <a:p>
                      <a:pPr algn="ctr"/>
                      <a:r>
                        <a:rPr kumimoji="0" lang="ru-RU" altLang="ru-RU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💾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</a:rPr>
                        <a:t>Сериализация</a:t>
                      </a:r>
                      <a:r>
                        <a:rPr kumimoji="0" lang="ru-RU" altLang="ru-RU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2400" dirty="0"/>
                        <a:t>— сохранение           обученной модели LightGBM для деплоя.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156728"/>
                  </a:ext>
                </a:extLst>
              </a:tr>
              <a:tr h="1430445">
                <a:tc>
                  <a:txBody>
                    <a:bodyPr/>
                    <a:lstStyle/>
                    <a:p>
                      <a:pPr algn="ctr"/>
                      <a:r>
                        <a:rPr kumimoji="0" lang="ru-RU" altLang="ru-RU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⚙️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</a:rPr>
                        <a:t>Настройка порогов </a:t>
                      </a:r>
                      <a:r>
                        <a:rPr lang="ru-RU" sz="2400" dirty="0"/>
                        <a:t>— калибровка    Recall под разные бизнес-стратегии.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9437703"/>
                  </a:ext>
                </a:extLst>
              </a:tr>
              <a:tr h="1430445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/>
                        <a:t>🖥️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</a:rPr>
                        <a:t>Запуск приложения </a:t>
                      </a:r>
                      <a:r>
                        <a:rPr lang="ru-RU" sz="2400" dirty="0"/>
                        <a:t>— интеграция в репозиторий.</a:t>
                      </a:r>
                      <a:endParaRPr kumimoji="0" lang="ru-RU" altLang="ru-RU" sz="2400" b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802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1673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936FC73-2475-46CF-BE8B-735B47125735}"/>
              </a:ext>
            </a:extLst>
          </p:cNvPr>
          <p:cNvSpPr txBox="1"/>
          <p:nvPr/>
        </p:nvSpPr>
        <p:spPr>
          <a:xfrm>
            <a:off x="223935" y="832163"/>
            <a:ext cx="415212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sz="2400" b="1" dirty="0"/>
              <a:t>Масштаб теста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2400" b="1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cs typeface="Courier New" panose="02070309020205020404" pitchFamily="49" charset="0"/>
              </a:rPr>
              <a:t>106.1 тыс.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 /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cs typeface="Courier New" panose="02070309020205020404" pitchFamily="49" charset="0"/>
              </a:rPr>
              <a:t>96.7 тыс.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строк (Train / Test)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cs typeface="Courier New" panose="02070309020205020404" pitchFamily="49" charset="0"/>
              </a:rPr>
              <a:t>115 групп</a:t>
            </a:r>
            <a:r>
              <a:rPr lang="ru-RU" altLang="ru-RU" sz="2400" b="1" dirty="0">
                <a:solidFill>
                  <a:schemeClr val="accent6"/>
                </a:solidFill>
                <a:cs typeface="Courier New" panose="02070309020205020404" pitchFamily="49" charset="0"/>
              </a:rPr>
              <a:t> /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cs typeface="Courier New" panose="02070309020205020404" pitchFamily="49" charset="0"/>
              </a:rPr>
              <a:t>676 смен</a:t>
            </a:r>
            <a:r>
              <a:rPr lang="ru-RU" altLang="ru-RU" sz="2400" b="1" dirty="0">
                <a:solidFill>
                  <a:schemeClr val="accent6"/>
                </a:solidFill>
                <a:cs typeface="Courier New" panose="02070309020205020404" pitchFamily="49" charset="0"/>
              </a:rPr>
              <a:t> /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cs typeface="Courier New" panose="02070309020205020404" pitchFamily="49" charset="0"/>
              </a:rPr>
              <a:t>22 дня</a:t>
            </a:r>
            <a:endParaRPr kumimoji="0" lang="ru-RU" altLang="ru-RU" sz="2400" b="1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Массив данных</a:t>
            </a:r>
          </a:p>
          <a:p>
            <a:endParaRPr lang="ru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C193BC-B5DC-4553-BC2C-091E49FE9108}"/>
              </a:ext>
            </a:extLst>
          </p:cNvPr>
          <p:cNvSpPr txBox="1"/>
          <p:nvPr/>
        </p:nvSpPr>
        <p:spPr>
          <a:xfrm>
            <a:off x="4870416" y="848038"/>
            <a:ext cx="34804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Качество модели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cs typeface="Courier New" panose="02070309020205020404" pitchFamily="49" charset="0"/>
              </a:rPr>
              <a:t>0.929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(ROC-AUC Test)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cs typeface="Courier New" panose="02070309020205020404" pitchFamily="49" charset="0"/>
              </a:rPr>
              <a:t>0.015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 (Разрыв Train-Test)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Высокая стабильность в продакшене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F11074-8E52-4E8B-AB5E-D7FFBEE98683}"/>
              </a:ext>
            </a:extLst>
          </p:cNvPr>
          <p:cNvSpPr txBox="1"/>
          <p:nvPr/>
        </p:nvSpPr>
        <p:spPr>
          <a:xfrm>
            <a:off x="8957657" y="848038"/>
            <a:ext cx="31068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Бизнес-эффект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cs typeface="Courier New" panose="02070309020205020404" pitchFamily="49" charset="0"/>
              </a:rPr>
              <a:t>2,053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 (True Positive) </a:t>
            </a:r>
            <a:endParaRPr lang="ru-RU" altLang="ru-RU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точных попаданий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cs typeface="Courier New" panose="02070309020205020404" pitchFamily="49" charset="0"/>
              </a:rPr>
              <a:t>91,840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 (True Negative)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сэкономлено на спаме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12E2143D-84B8-4E36-AF73-BE5D41289972}"/>
              </a:ext>
            </a:extLst>
          </p:cNvPr>
          <p:cNvSpPr txBox="1">
            <a:spLocks/>
          </p:cNvSpPr>
          <p:nvPr/>
        </p:nvSpPr>
        <p:spPr>
          <a:xfrm>
            <a:off x="461913" y="186016"/>
            <a:ext cx="10891887" cy="4918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+mn-lt"/>
              </a:rPr>
              <a:t>Итоги валидации модели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8A241E-15EF-49D2-9D80-D371189A7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658743"/>
            <a:ext cx="11430000" cy="301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934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936FC73-2475-46CF-BE8B-735B47125735}"/>
              </a:ext>
            </a:extLst>
          </p:cNvPr>
          <p:cNvSpPr txBox="1"/>
          <p:nvPr/>
        </p:nvSpPr>
        <p:spPr>
          <a:xfrm>
            <a:off x="461913" y="3342823"/>
            <a:ext cx="364994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accent6"/>
                </a:solidFill>
              </a:rPr>
              <a:t>100%</a:t>
            </a:r>
            <a:br>
              <a:rPr lang="ru-RU" sz="1600" dirty="0"/>
            </a:br>
            <a:r>
              <a:rPr lang="ru-RU" sz="1400" dirty="0"/>
              <a:t>Доля успешных ответов </a:t>
            </a:r>
          </a:p>
          <a:p>
            <a:r>
              <a:rPr lang="ru-RU" sz="1400" dirty="0"/>
              <a:t>(0% ошибок / </a:t>
            </a:r>
            <a:r>
              <a:rPr lang="ru-RU" sz="1400" dirty="0" err="1"/>
              <a:t>failed_calls</a:t>
            </a:r>
            <a:r>
              <a:rPr lang="ru-RU" sz="1400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C193BC-B5DC-4553-BC2C-091E49FE9108}"/>
              </a:ext>
            </a:extLst>
          </p:cNvPr>
          <p:cNvSpPr txBox="1"/>
          <p:nvPr/>
        </p:nvSpPr>
        <p:spPr>
          <a:xfrm>
            <a:off x="4849511" y="1406624"/>
            <a:ext cx="348048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Условия проведения тестирования: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Ограничение ресурсов: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Лимиты контейнеров заданы жестко через конфигурацию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docker-compose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Конкурентность: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Тестирование параллельной обработки (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--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predict-max-concurrency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4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Стабильность: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</a:rPr>
              <a:t>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Кодовая база полностью покрыта автоматическими проверками (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make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test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и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make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Courier New" panose="02070309020205020404" pitchFamily="49" charset="0"/>
              </a:rPr>
              <a:t>precommit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F11074-8E52-4E8B-AB5E-D7FFBEE98683}"/>
              </a:ext>
            </a:extLst>
          </p:cNvPr>
          <p:cNvSpPr txBox="1"/>
          <p:nvPr/>
        </p:nvSpPr>
        <p:spPr>
          <a:xfrm>
            <a:off x="9202710" y="1406624"/>
            <a:ext cx="3106825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Google Sans"/>
              </a:rPr>
              <a:t>Метрики производительности (Технический лог):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Google San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p50 (Медиана):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15.07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мс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p80: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17.49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мс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p95: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18.69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мс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Фактический RPM: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~200 (199.70)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Успешные вызовы: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100 запросов 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ok_calls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12E2143D-84B8-4E36-AF73-BE5D41289972}"/>
              </a:ext>
            </a:extLst>
          </p:cNvPr>
          <p:cNvSpPr txBox="1">
            <a:spLocks/>
          </p:cNvSpPr>
          <p:nvPr/>
        </p:nvSpPr>
        <p:spPr>
          <a:xfrm>
            <a:off x="461913" y="186016"/>
            <a:ext cx="10891887" cy="4918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+mn-lt"/>
              </a:rPr>
              <a:t>Нагрузочное тестирование и надежность</a:t>
            </a:r>
          </a:p>
          <a:p>
            <a:pPr algn="ctr"/>
            <a:r>
              <a:rPr lang="ru-RU" sz="1800" dirty="0">
                <a:solidFill>
                  <a:srgbClr val="0F1115"/>
                </a:solidFill>
                <a:latin typeface="+mn-lt"/>
              </a:rPr>
              <a:t>Проверка быстродействия сервиса в условиях ограниченных ресурсов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4E6E03-BECB-4187-BD7E-2048BB72C6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051"/>
          <a:stretch/>
        </p:blipFill>
        <p:spPr>
          <a:xfrm>
            <a:off x="9308588" y="3819877"/>
            <a:ext cx="2229251" cy="14033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2658FD-8B52-4C6D-AADC-B9E0A8E70EFF}"/>
              </a:ext>
            </a:extLst>
          </p:cNvPr>
          <p:cNvSpPr txBox="1"/>
          <p:nvPr/>
        </p:nvSpPr>
        <p:spPr>
          <a:xfrm>
            <a:off x="461913" y="1406624"/>
            <a:ext cx="399614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accent6"/>
                </a:solidFill>
              </a:rPr>
              <a:t>&lt; 19 </a:t>
            </a:r>
            <a:r>
              <a:rPr lang="ru-RU" sz="4000" b="1" dirty="0" err="1">
                <a:solidFill>
                  <a:schemeClr val="accent6"/>
                </a:solidFill>
              </a:rPr>
              <a:t>мс</a:t>
            </a:r>
            <a:endParaRPr lang="ru-RU" sz="4000" b="1" dirty="0">
              <a:solidFill>
                <a:schemeClr val="accent6"/>
              </a:solidFill>
            </a:endParaRPr>
          </a:p>
          <a:p>
            <a:r>
              <a:rPr lang="ru-RU" sz="1400" dirty="0"/>
              <a:t>95% запросов обрабатываются быстрее целевого порога при 200 RPM</a:t>
            </a:r>
            <a:endParaRPr lang="ru-RU" sz="1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9B4284-AF65-487E-BADB-9AF91D6B7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70" y="360604"/>
            <a:ext cx="11268174" cy="995508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sz="3600" b="1" dirty="0">
                <a:latin typeface="+mn-lt"/>
              </a:rPr>
              <a:t>Команда № 11: Роли и вклад в проект</a:t>
            </a:r>
            <a:br>
              <a:rPr lang="ru-RU" sz="3600" b="1" dirty="0">
                <a:latin typeface="+mn-lt"/>
              </a:rPr>
            </a:br>
            <a:r>
              <a:rPr lang="ru-RU" sz="1800" dirty="0">
                <a:solidFill>
                  <a:srgbClr val="0F1115"/>
                </a:solidFill>
                <a:latin typeface="+mn-lt"/>
              </a:rPr>
              <a:t>Распределение задач при работе над кейсом</a:t>
            </a:r>
            <a:br>
              <a:rPr lang="ru-RU" sz="1400" dirty="0">
                <a:solidFill>
                  <a:srgbClr val="0F1115"/>
                </a:solidFill>
              </a:rPr>
            </a:br>
            <a:endParaRPr lang="ru-RU" sz="3600" b="1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EAAF6-5424-4471-A2A6-B87767A35D0B}"/>
              </a:ext>
            </a:extLst>
          </p:cNvPr>
          <p:cNvSpPr txBox="1"/>
          <p:nvPr/>
        </p:nvSpPr>
        <p:spPr>
          <a:xfrm>
            <a:off x="319735" y="1700842"/>
            <a:ext cx="21175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Анализ данных</a:t>
            </a:r>
          </a:p>
          <a:p>
            <a:pPr algn="ctr"/>
            <a:endParaRPr lang="ru-RU" dirty="0"/>
          </a:p>
          <a:p>
            <a:pPr algn="ctr"/>
            <a:r>
              <a:rPr lang="ru-RU" sz="1600" b="1" u="none" strike="noStrike" dirty="0">
                <a:solidFill>
                  <a:schemeClr val="accent6"/>
                </a:solidFill>
                <a:effectLst/>
                <a:latin typeface="Google Sans"/>
              </a:rPr>
              <a:t>Журавлев Николай</a:t>
            </a:r>
          </a:p>
          <a:p>
            <a:pPr algn="ctr"/>
            <a:endParaRPr lang="ru-RU" sz="1600" b="1" u="none" strike="noStrike" dirty="0">
              <a:effectLst/>
              <a:latin typeface="Google Sans"/>
            </a:endParaRPr>
          </a:p>
          <a:p>
            <a:pPr marL="144000">
              <a:buFont typeface="Arial" panose="020B0604020202020204" pitchFamily="34" charset="0"/>
              <a:buChar char="•"/>
            </a:pPr>
            <a:r>
              <a:rPr lang="ru-RU" sz="1600" b="0" u="none" strike="noStrike" dirty="0">
                <a:effectLst/>
                <a:latin typeface="Google Sans"/>
              </a:rPr>
              <a:t> Первичный разведочный анализ данных (EDA).</a:t>
            </a:r>
          </a:p>
          <a:p>
            <a:pPr marL="144000">
              <a:buFont typeface="Arial" panose="020B0604020202020204" pitchFamily="34" charset="0"/>
              <a:buChar char="•"/>
            </a:pPr>
            <a:r>
              <a:rPr lang="ru-RU" sz="1600" b="0" u="none" strike="noStrike" dirty="0">
                <a:effectLst/>
                <a:latin typeface="Google Sans"/>
              </a:rPr>
              <a:t> Исследование структуры исходных датасетов.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90DD25-885C-442C-87D6-B5615B370B9B}"/>
              </a:ext>
            </a:extLst>
          </p:cNvPr>
          <p:cNvSpPr txBox="1"/>
          <p:nvPr/>
        </p:nvSpPr>
        <p:spPr>
          <a:xfrm>
            <a:off x="2664956" y="1700841"/>
            <a:ext cx="2421365" cy="34163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Feature Engineering</a:t>
            </a:r>
            <a:endParaRPr lang="ru-RU" b="1" dirty="0"/>
          </a:p>
          <a:p>
            <a:endParaRPr lang="ru-RU" dirty="0"/>
          </a:p>
          <a:p>
            <a:pPr algn="ctr"/>
            <a:r>
              <a:rPr lang="ru-RU" sz="1600" b="1" u="none" strike="noStrike" dirty="0">
                <a:solidFill>
                  <a:schemeClr val="accent6"/>
                </a:solidFill>
                <a:effectLst/>
                <a:latin typeface="Google Sans"/>
              </a:rPr>
              <a:t>Селиванова Раиса</a:t>
            </a:r>
          </a:p>
          <a:p>
            <a:pPr algn="ctr"/>
            <a:endParaRPr lang="ru-RU" sz="1600" b="1" u="none" strike="noStrike" dirty="0">
              <a:effectLst/>
              <a:latin typeface="Google Sans"/>
            </a:endParaRPr>
          </a:p>
          <a:p>
            <a:pPr marL="144000">
              <a:buFont typeface="Arial" panose="020B0604020202020204" pitchFamily="34" charset="0"/>
              <a:buChar char="•"/>
            </a:pPr>
            <a:r>
              <a:rPr lang="ru-RU" sz="1600" b="0" u="none" strike="noStrike" dirty="0">
                <a:effectLst/>
                <a:latin typeface="Google Sans"/>
              </a:rPr>
              <a:t> Углубленный EDA и генерация признаков.</a:t>
            </a:r>
          </a:p>
          <a:p>
            <a:pPr marL="144000">
              <a:buFont typeface="Arial" panose="020B0604020202020204" pitchFamily="34" charset="0"/>
              <a:buChar char="•"/>
            </a:pPr>
            <a:r>
              <a:rPr lang="ru-RU" sz="1600" b="0" u="none" strike="noStrike" dirty="0">
                <a:effectLst/>
                <a:latin typeface="Google Sans"/>
              </a:rPr>
              <a:t> Анализ мультиколлинеарности и связи с таргетом.</a:t>
            </a:r>
          </a:p>
          <a:p>
            <a:pPr marL="144000">
              <a:buFont typeface="Arial" panose="020B0604020202020204" pitchFamily="34" charset="0"/>
              <a:buChar char="•"/>
            </a:pPr>
            <a:r>
              <a:rPr lang="ru-RU" sz="1600" b="0" u="none" strike="noStrike" dirty="0">
                <a:effectLst/>
                <a:latin typeface="Google Sans"/>
              </a:rPr>
              <a:t> Подготовка датасетов для моделей.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26996E-264E-4E82-B975-316E4AC57215}"/>
              </a:ext>
            </a:extLst>
          </p:cNvPr>
          <p:cNvSpPr txBox="1"/>
          <p:nvPr/>
        </p:nvSpPr>
        <p:spPr>
          <a:xfrm>
            <a:off x="5314626" y="1713454"/>
            <a:ext cx="2117559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Моделирование</a:t>
            </a:r>
          </a:p>
          <a:p>
            <a:pPr algn="ctr"/>
            <a:endParaRPr lang="ru-RU" dirty="0"/>
          </a:p>
          <a:p>
            <a:pPr algn="ctr"/>
            <a:r>
              <a:rPr lang="ru-RU" sz="1600" b="1" u="none" strike="noStrike" dirty="0">
                <a:solidFill>
                  <a:schemeClr val="accent6"/>
                </a:solidFill>
                <a:effectLst/>
                <a:latin typeface="Google Sans"/>
              </a:rPr>
              <a:t>Миронюк Даниил</a:t>
            </a:r>
          </a:p>
          <a:p>
            <a:pPr algn="ctr"/>
            <a:endParaRPr lang="ru-RU" sz="1600" b="1" u="none" strike="noStrike" dirty="0">
              <a:effectLst/>
              <a:latin typeface="Google Sans"/>
            </a:endParaRPr>
          </a:p>
          <a:p>
            <a:pPr marL="144000">
              <a:buFont typeface="Arial" panose="020B0604020202020204" pitchFamily="34" charset="0"/>
              <a:buChar char="•"/>
            </a:pPr>
            <a:r>
              <a:rPr lang="ru-RU" sz="1600" b="0" u="none" strike="noStrike" dirty="0">
                <a:effectLst/>
                <a:latin typeface="Google Sans"/>
              </a:rPr>
              <a:t> Обучение, валидация и сравнение моделей.</a:t>
            </a:r>
          </a:p>
          <a:p>
            <a:pPr marL="144000">
              <a:buFont typeface="Arial" panose="020B0604020202020204" pitchFamily="34" charset="0"/>
              <a:buChar char="•"/>
            </a:pPr>
            <a:r>
              <a:rPr lang="ru-RU" sz="1600" b="0" u="none" strike="noStrike" dirty="0">
                <a:effectLst/>
                <a:latin typeface="Google Sans"/>
              </a:rPr>
              <a:t> Подбор гиперпараметров и оценка качества.</a:t>
            </a:r>
          </a:p>
          <a:p>
            <a:pPr marL="144000">
              <a:buFont typeface="Arial" panose="020B0604020202020204" pitchFamily="34" charset="0"/>
              <a:buChar char="•"/>
            </a:pPr>
            <a:r>
              <a:rPr lang="ru-RU" sz="1600" b="0" u="none" strike="noStrike" dirty="0">
                <a:effectLst/>
                <a:latin typeface="Google Sans"/>
              </a:rPr>
              <a:t> Feature Importance и финальный отбор признаков.</a:t>
            </a:r>
          </a:p>
          <a:p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763526-F46D-4B7A-B6C6-BEA9BA4B80D1}"/>
              </a:ext>
            </a:extLst>
          </p:cNvPr>
          <p:cNvSpPr txBox="1"/>
          <p:nvPr/>
        </p:nvSpPr>
        <p:spPr>
          <a:xfrm>
            <a:off x="7660490" y="1713454"/>
            <a:ext cx="408565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Оптимизация и деплой</a:t>
            </a:r>
          </a:p>
          <a:p>
            <a:endParaRPr lang="ru-RU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 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Google Sans"/>
              </a:rPr>
              <a:t>Губанов Антон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Google Sans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(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Тимлид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ru-RU" sz="1600" dirty="0">
              <a:latin typeface="Google Sans"/>
            </a:endParaRPr>
          </a:p>
          <a:p>
            <a:pPr marL="1440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altLang="ru-RU" sz="1600" dirty="0">
                <a:latin typeface="Google Sans"/>
              </a:rPr>
              <a:t> Координация, архитектура решения и перенос логики в production-приложение. </a:t>
            </a:r>
          </a:p>
          <a:p>
            <a:endParaRPr lang="ru-RU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 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Google Sans"/>
              </a:rPr>
              <a:t>Юрин Юрий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Google San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1440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altLang="ru-RU" sz="1600" dirty="0">
                <a:latin typeface="Google Sans"/>
              </a:rPr>
              <a:t> Оптимизация кода и ускорение расчета окон при формировании фичей.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 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Google Sans"/>
              </a:rPr>
              <a:t>Троян Денис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Google San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1440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Помощь в оптимизации кодовой базы и оформление презентации.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endParaRPr lang="ru-RU" dirty="0"/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71EAB16E-3ECA-4E41-85C0-7CA6851DD345}"/>
              </a:ext>
            </a:extLst>
          </p:cNvPr>
          <p:cNvCxnSpPr>
            <a:cxnSpLocks/>
          </p:cNvCxnSpPr>
          <p:nvPr/>
        </p:nvCxnSpPr>
        <p:spPr>
          <a:xfrm>
            <a:off x="319734" y="1620411"/>
            <a:ext cx="11552531" cy="0"/>
          </a:xfrm>
          <a:prstGeom prst="straightConnector1">
            <a:avLst/>
          </a:prstGeom>
          <a:ln w="381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Блок-схема: узел 22">
            <a:extLst>
              <a:ext uri="{FF2B5EF4-FFF2-40B4-BE49-F238E27FC236}">
                <a16:creationId xmlns:a16="http://schemas.microsoft.com/office/drawing/2014/main" id="{03C85D6E-0E92-4909-9E8B-F05AE32F58DB}"/>
              </a:ext>
            </a:extLst>
          </p:cNvPr>
          <p:cNvSpPr/>
          <p:nvPr/>
        </p:nvSpPr>
        <p:spPr>
          <a:xfrm>
            <a:off x="1306513" y="1535348"/>
            <a:ext cx="144000" cy="144000"/>
          </a:xfrm>
          <a:prstGeom prst="flowChartConnector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Блок-схема: узел 30">
            <a:extLst>
              <a:ext uri="{FF2B5EF4-FFF2-40B4-BE49-F238E27FC236}">
                <a16:creationId xmlns:a16="http://schemas.microsoft.com/office/drawing/2014/main" id="{0974160D-CD15-4A53-A6E4-52FD9691EBCA}"/>
              </a:ext>
            </a:extLst>
          </p:cNvPr>
          <p:cNvSpPr/>
          <p:nvPr/>
        </p:nvSpPr>
        <p:spPr>
          <a:xfrm>
            <a:off x="3753431" y="1535348"/>
            <a:ext cx="144000" cy="144000"/>
          </a:xfrm>
          <a:prstGeom prst="flowChartConnector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Блок-схема: узел 31">
            <a:extLst>
              <a:ext uri="{FF2B5EF4-FFF2-40B4-BE49-F238E27FC236}">
                <a16:creationId xmlns:a16="http://schemas.microsoft.com/office/drawing/2014/main" id="{754B86DB-CEF6-435E-9CBC-E11D6A2A8D55}"/>
              </a:ext>
            </a:extLst>
          </p:cNvPr>
          <p:cNvSpPr/>
          <p:nvPr/>
        </p:nvSpPr>
        <p:spPr>
          <a:xfrm>
            <a:off x="6301405" y="1537058"/>
            <a:ext cx="144000" cy="144000"/>
          </a:xfrm>
          <a:prstGeom prst="flowChartConnector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Блок-схема: узел 32">
            <a:extLst>
              <a:ext uri="{FF2B5EF4-FFF2-40B4-BE49-F238E27FC236}">
                <a16:creationId xmlns:a16="http://schemas.microsoft.com/office/drawing/2014/main" id="{F40607BB-1072-4AE0-B32C-E838D1D84F85}"/>
              </a:ext>
            </a:extLst>
          </p:cNvPr>
          <p:cNvSpPr/>
          <p:nvPr/>
        </p:nvSpPr>
        <p:spPr>
          <a:xfrm>
            <a:off x="9631317" y="1535348"/>
            <a:ext cx="144000" cy="144000"/>
          </a:xfrm>
          <a:prstGeom prst="flowChartConnector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8793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1460</Words>
  <Application>Microsoft Office PowerPoint</Application>
  <PresentationFormat>Широкоэкранный</PresentationFormat>
  <Paragraphs>312</Paragraphs>
  <Slides>10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Google Sans</vt:lpstr>
      <vt:lpstr>Menlo</vt:lpstr>
      <vt:lpstr>quote-cjk-patch</vt:lpstr>
      <vt:lpstr>Тема Office</vt:lpstr>
      <vt:lpstr>Выбор горизонта прогноза (прогноз за 2 дня до старта смены)</vt:lpstr>
      <vt:lpstr>Feature Engineering – группы признаков</vt:lpstr>
      <vt:lpstr>Отбор признаков. Этап №1: ручной</vt:lpstr>
      <vt:lpstr>Сравнение моделей</vt:lpstr>
      <vt:lpstr>Отбор признаков. Этап №2: на основе feature importance и PSI</vt:lpstr>
      <vt:lpstr>Сокращение переобучения модели без потери качества</vt:lpstr>
      <vt:lpstr>Промежуточный итог: Модель готова к использованию в реальных условиях</vt:lpstr>
      <vt:lpstr>Презентация PowerPoint</vt:lpstr>
      <vt:lpstr>Презентация PowerPoint</vt:lpstr>
      <vt:lpstr>Команда № 11: Роли и вклад в проект Распределение задач при работе над кейсом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Выбор горизонта прогноза (прогноз за 2 дня до старта смены)</dc:title>
  <dc:creator>U_M1P8G</dc:creator>
  <cp:lastModifiedBy>Денис Троян</cp:lastModifiedBy>
  <cp:revision>65</cp:revision>
  <dcterms:created xsi:type="dcterms:W3CDTF">2026-05-18T17:32:58Z</dcterms:created>
  <dcterms:modified xsi:type="dcterms:W3CDTF">2026-05-20T13:52:02Z</dcterms:modified>
</cp:coreProperties>
</file>