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8" r:id="rId2"/>
    <p:sldId id="256" r:id="rId3"/>
    <p:sldId id="257" r:id="rId4"/>
    <p:sldId id="25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2DA"/>
    <a:srgbClr val="D09E00"/>
    <a:srgbClr val="FFCC00"/>
    <a:srgbClr val="FF6600"/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6F5C1-89B2-405C-9D94-1F9344DF8A1B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7A8EE-8359-4671-95DA-B29D429A3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67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0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03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54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653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0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C25E3-9A96-4BF1-A826-F3FCE7377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B54F1-7CB4-4328-9824-2B280B025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5C60D-E086-47FC-8AF2-5E5836B7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BBC17-92F9-48D4-9529-D6783C3E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4BB227-716B-482B-BFA2-FC2AA604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25A1A-BCAC-4A96-BD3A-06B40D65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06986-1D94-4399-B780-F12AE0DD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45523-37FA-4AD7-BE10-17F57C5C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1B9AC7-AE59-40B4-B4D1-F4BDB610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1C9D03-8C78-47BD-8AED-FBE3D4B9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54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7EE67-F975-4418-99B6-E738ADDC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808867-E24A-44CF-A06D-EEF32CF70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ADA18C-D944-4F6B-AB97-F162AD77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171A5-2AFE-44FF-BA7C-257FBAB4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22F85C-9D96-4618-9CF1-B4A8F94B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93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A4E3B-14AD-4ED4-8FDD-156468E5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5EEB9-E820-4C0E-BBF8-A7C9D51A5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C47C6E-D469-4084-B104-BBE8D3285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6BDF57-03EB-4CB8-BDD7-70AFFE93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557C2-7CC4-4215-A3E7-CB94F76E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1A48C4-2FD8-43CA-BD8C-52C21331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4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6B651-1386-4476-B169-5A6716FA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1355F-117A-4397-8174-5D0A9AEE4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230D96-A700-4F44-923B-1100AD842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E52CE8-E78B-4A5A-A882-F923B6F16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AD58EC-15FB-49AB-9BDB-609A4F73B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AE0742-B511-4F04-8871-3ECE1D17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BFDDB8-4295-4D7C-A20D-CCF889AD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4A39A6-3B28-486A-AE25-F1EEAD0A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81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780CB-99DA-495A-83DE-E100A737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F3720A-26C8-4570-B796-AE0AA85A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C6F80E-FFEF-4EAB-9CCE-0968B1CB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51B486-FEF7-4033-90FE-84F69A6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53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076954-737E-4827-90C0-D3C164AB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0092C0-474B-460B-85CF-D318B2E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F215A4-A599-4121-9EFB-6A0BFE03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03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78DD9-699B-4DE3-A849-AC58A9F2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BDEBC-CC01-44CA-82AB-F11ACC25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E9C937-4C60-4640-A8A5-03CD1641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1F17F0-F4B0-4BAD-8999-737AAD62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75BEBD-BB55-435D-9CBE-E5B26AC1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130E51-9538-4A24-A4AA-544A5BF5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67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D216B-B283-40FE-BC69-6E7C1C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6BBA8B-4D8D-4A09-822D-74F32DDC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84314E-E40D-41BC-9754-E85B39CE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82CBBF-3B75-4A3D-9663-E604C5B6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C59324-0F2C-44C5-82EE-5E114156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CCB86D-FE25-437F-8273-B74100D9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4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0F653-6955-4959-B0E4-908C4819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0FC797-37BE-4687-980B-21F84B8A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C0EE35-56DE-499F-B115-A8A666EE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D1202F-25F2-4394-88C9-0EF0CD97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499B1-FC3B-472C-BCA1-A9B4EF19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57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D39930-2F1A-4519-AD1E-A2EA812F6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03F0FA-7457-4E5D-95C1-A3F92BDF0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BD576E-6E2D-4FD7-A45E-BCCA3190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C30592-BCF1-4D2B-BAAD-75E469C5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BC4655-C9E7-492A-AABF-8C61E788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76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1B280-19DD-4C2E-AE44-9D68DCCF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123AE7-A2B6-4222-AA11-8467B630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AB4383-5558-4699-A3B9-19AD3B1AC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9EAFE-6088-4937-B583-9661DE49AF5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5D552D-2E3A-4C99-9EE1-DE0C276FD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D8330A-35E5-4AA3-B5C2-43A369A72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64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7400B-58F9-47B9-B65C-C6B3632AF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9600" dirty="0"/>
              <a:t>«КадроБот 3000»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22D30A-404D-4236-93CB-962289496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ru-RU" sz="3200" b="1" dirty="0">
                <a:effectLst/>
                <a:ea typeface="Arial" panose="020B0604020202020204" pitchFamily="34" charset="0"/>
              </a:rPr>
              <a:t>Проведение этического аудита и сопровождение внедрения </a:t>
            </a:r>
            <a:endParaRPr lang="ru-RU" sz="3200" dirty="0">
              <a:effectLst/>
              <a:ea typeface="Arial" panose="020B0604020202020204" pitchFamily="34" charset="0"/>
            </a:endParaRPr>
          </a:p>
          <a:p>
            <a:r>
              <a:rPr lang="ru-RU" sz="3200" b="1" dirty="0">
                <a:effectLst/>
                <a:ea typeface="Arial" panose="020B0604020202020204" pitchFamily="34" charset="0"/>
              </a:rPr>
              <a:t>ИИ-системы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8044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327991" y="785078"/>
            <a:ext cx="11536018" cy="508586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6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Что мы обнаружили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DD3B2-D42B-447D-B34F-DDD50A9C8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873518"/>
            <a:ext cx="10891887" cy="53858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b="1" dirty="0"/>
              <a:t>Как работает механизм дискриминации?</a:t>
            </a: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96BC89-21D2-4668-B31C-477D846121AB}"/>
              </a:ext>
            </a:extLst>
          </p:cNvPr>
          <p:cNvSpPr/>
          <p:nvPr/>
        </p:nvSpPr>
        <p:spPr>
          <a:xfrm>
            <a:off x="327990" y="1957735"/>
            <a:ext cx="5584227" cy="770021"/>
          </a:xfrm>
          <a:prstGeom prst="round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45+ лет окончил вуз в 1999 году</a:t>
            </a:r>
            <a:endParaRPr lang="en-US" sz="1800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BCAFB69-EB2F-4936-919F-00625B0B5397}"/>
              </a:ext>
            </a:extLst>
          </p:cNvPr>
          <p:cNvSpPr/>
          <p:nvPr/>
        </p:nvSpPr>
        <p:spPr>
          <a:xfrm>
            <a:off x="327990" y="3125532"/>
            <a:ext cx="5575504" cy="770021"/>
          </a:xfrm>
          <a:prstGeom prst="round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graduation_year = 1999 -&gt; прокси-сигнал "старый"</a:t>
            </a:r>
            <a:endParaRPr lang="en-US" sz="1800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FFF994A-AE6F-4FB7-ADC7-264661D7A9F5}"/>
              </a:ext>
            </a:extLst>
          </p:cNvPr>
          <p:cNvSpPr/>
          <p:nvPr/>
        </p:nvSpPr>
        <p:spPr>
          <a:xfrm>
            <a:off x="327989" y="4331116"/>
            <a:ext cx="5575503" cy="770021"/>
          </a:xfrm>
          <a:prstGeom prst="round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КадроБот снижает score (не зная возраста)</a:t>
            </a:r>
            <a:endParaRPr lang="en-US" sz="18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1EC7206A-8D7F-413A-9480-86D89B629958}"/>
              </a:ext>
            </a:extLst>
          </p:cNvPr>
          <p:cNvSpPr/>
          <p:nvPr/>
        </p:nvSpPr>
        <p:spPr>
          <a:xfrm>
            <a:off x="2982416" y="2727756"/>
            <a:ext cx="266654" cy="42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269ED90-CA8C-485B-A918-23AEFACD5C0B}"/>
              </a:ext>
            </a:extLst>
          </p:cNvPr>
          <p:cNvSpPr/>
          <p:nvPr/>
        </p:nvSpPr>
        <p:spPr>
          <a:xfrm>
            <a:off x="2982416" y="3945435"/>
            <a:ext cx="266654" cy="42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BE4B4CE9-4DDE-4A72-97C2-84C9A3546C66}"/>
              </a:ext>
            </a:extLst>
          </p:cNvPr>
          <p:cNvSpPr/>
          <p:nvPr/>
        </p:nvSpPr>
        <p:spPr>
          <a:xfrm>
            <a:off x="3001504" y="5006785"/>
            <a:ext cx="266654" cy="42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515C8903-B082-4AB3-AA8B-B97275DB802A}"/>
              </a:ext>
            </a:extLst>
          </p:cNvPr>
          <p:cNvSpPr/>
          <p:nvPr/>
        </p:nvSpPr>
        <p:spPr>
          <a:xfrm>
            <a:off x="327989" y="5378997"/>
            <a:ext cx="5584228" cy="770021"/>
          </a:xfrm>
          <a:prstGeom prst="round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C0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отсеян - несмотря на высокий true_success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6CA3F5CC-2BE5-44CD-BA51-1C479B0A4BB6}"/>
              </a:ext>
            </a:extLst>
          </p:cNvPr>
          <p:cNvSpPr/>
          <p:nvPr/>
        </p:nvSpPr>
        <p:spPr>
          <a:xfrm>
            <a:off x="327991" y="6221108"/>
            <a:ext cx="11536017" cy="608898"/>
          </a:xfrm>
          <a:prstGeom prst="round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C0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Ключевое: </a:t>
            </a:r>
            <a:endParaRPr lang="ru-RU" sz="1800" b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формально не используется, но модель нашла его через три прокси-признака в обучающих данных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F49F9-7588-4B4A-ACD5-9EED42231D25}"/>
              </a:ext>
            </a:extLst>
          </p:cNvPr>
          <p:cNvSpPr txBox="1"/>
          <p:nvPr/>
        </p:nvSpPr>
        <p:spPr>
          <a:xfrm>
            <a:off x="327991" y="1479003"/>
            <a:ext cx="557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Как работает дискриминация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A32A1C-CAC2-4E5E-809F-36B62D1CE1FC}"/>
              </a:ext>
            </a:extLst>
          </p:cNvPr>
          <p:cNvSpPr txBox="1"/>
          <p:nvPr/>
        </p:nvSpPr>
        <p:spPr>
          <a:xfrm>
            <a:off x="6096000" y="1479003"/>
            <a:ext cx="557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Прокси-переменные</a:t>
            </a:r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268D454B-8A7C-43AD-A852-F557EB074187}"/>
              </a:ext>
            </a:extLst>
          </p:cNvPr>
          <p:cNvSpPr/>
          <p:nvPr/>
        </p:nvSpPr>
        <p:spPr>
          <a:xfrm>
            <a:off x="6309459" y="1959791"/>
            <a:ext cx="5554549" cy="1056588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D4CD7479-1B05-40E1-9923-50485B12B3AB}"/>
              </a:ext>
            </a:extLst>
          </p:cNvPr>
          <p:cNvSpPr/>
          <p:nvPr/>
        </p:nvSpPr>
        <p:spPr>
          <a:xfrm>
            <a:off x="6382611" y="1996367"/>
            <a:ext cx="2905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graduation_year</a:t>
            </a:r>
            <a:endParaRPr lang="en-US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72FB1F2-66F4-4AB4-8B5C-D1E60B086CF9}"/>
              </a:ext>
            </a:extLst>
          </p:cNvPr>
          <p:cNvSpPr/>
          <p:nvPr/>
        </p:nvSpPr>
        <p:spPr>
          <a:xfrm>
            <a:off x="6382611" y="2432357"/>
            <a:ext cx="3932463" cy="650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выпуска = косвенный возраст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r ≈ −0.95 с age</a:t>
            </a:r>
            <a:endParaRPr lang="en-US" sz="12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11A10E16-20C9-4EBD-90FE-29E3869F092A}"/>
              </a:ext>
            </a:extLst>
          </p:cNvPr>
          <p:cNvSpPr/>
          <p:nvPr/>
        </p:nvSpPr>
        <p:spPr>
          <a:xfrm>
            <a:off x="9802249" y="1981143"/>
            <a:ext cx="1869256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ВЫСОКИЙ</a:t>
            </a:r>
            <a:endParaRPr lang="en-US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06AEEEAD-3891-46D6-996E-B6D79F6F27E2}"/>
              </a:ext>
            </a:extLst>
          </p:cNvPr>
          <p:cNvSpPr/>
          <p:nvPr/>
        </p:nvSpPr>
        <p:spPr>
          <a:xfrm>
            <a:off x="6309460" y="3322703"/>
            <a:ext cx="5554548" cy="1051724"/>
          </a:xfrm>
          <a:prstGeom prst="rect">
            <a:avLst/>
          </a:prstGeom>
          <a:solidFill>
            <a:srgbClr val="FEF3E2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BA104B08-B876-4F2A-AFFE-5894B86A09AF}"/>
              </a:ext>
            </a:extLst>
          </p:cNvPr>
          <p:cNvSpPr/>
          <p:nvPr/>
        </p:nvSpPr>
        <p:spPr>
          <a:xfrm>
            <a:off x="6382611" y="3455228"/>
            <a:ext cx="3456163" cy="375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outdated_vocab</a:t>
            </a:r>
            <a:endParaRPr lang="en-US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88C50EA8-B987-4E4A-8508-5896BA6EFD4D}"/>
              </a:ext>
            </a:extLst>
          </p:cNvPr>
          <p:cNvSpPr/>
          <p:nvPr/>
        </p:nvSpPr>
        <p:spPr>
          <a:xfrm>
            <a:off x="9819989" y="3422843"/>
            <a:ext cx="1851516" cy="375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СРЕДНИЙ</a:t>
            </a:r>
            <a:endParaRPr lang="en-US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ACD118B2-E403-438B-93D6-C1FAF3CAA2F2}"/>
              </a:ext>
            </a:extLst>
          </p:cNvPr>
          <p:cNvSpPr/>
          <p:nvPr/>
        </p:nvSpPr>
        <p:spPr>
          <a:xfrm>
            <a:off x="6363826" y="3798459"/>
            <a:ext cx="5307679" cy="590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Профлексика 2000-х != низкая квалификация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Поколенческий, не качественный признак</a:t>
            </a:r>
            <a:endParaRPr lang="en-US" sz="1200" dirty="0"/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075407BA-C242-4FEB-9E45-9C952A386927}"/>
              </a:ext>
            </a:extLst>
          </p:cNvPr>
          <p:cNvSpPr/>
          <p:nvPr/>
        </p:nvSpPr>
        <p:spPr>
          <a:xfrm>
            <a:off x="6309459" y="4841820"/>
            <a:ext cx="5554548" cy="1051724"/>
          </a:xfrm>
          <a:prstGeom prst="rect">
            <a:avLst/>
          </a:prstGeom>
          <a:solidFill>
            <a:srgbClr val="FEF3E2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9D2D7D8F-CD76-468A-ABFD-7FC3BD86021A}"/>
              </a:ext>
            </a:extLst>
          </p:cNvPr>
          <p:cNvSpPr/>
          <p:nvPr/>
        </p:nvSpPr>
        <p:spPr>
          <a:xfrm>
            <a:off x="9819989" y="4887483"/>
            <a:ext cx="1851516" cy="375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СРЕДНИЙ</a:t>
            </a:r>
            <a:endParaRPr lang="en-US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DEA6D4EE-061B-4D57-8A42-337A24ED7EDC}"/>
              </a:ext>
            </a:extLst>
          </p:cNvPr>
          <p:cNvSpPr/>
          <p:nvPr/>
        </p:nvSpPr>
        <p:spPr>
          <a:xfrm>
            <a:off x="6382611" y="5283195"/>
            <a:ext cx="5307679" cy="590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молод</a:t>
            </a:r>
            <a:r>
              <a:rPr lang="ru-RU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жных хобби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Косвенно дискриминирует 45+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ECE22AB9-B7C3-4AF7-9B59-943A4FDB5AAD}"/>
              </a:ext>
            </a:extLst>
          </p:cNvPr>
          <p:cNvSpPr/>
          <p:nvPr/>
        </p:nvSpPr>
        <p:spPr>
          <a:xfrm>
            <a:off x="6384473" y="494111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youth_hobby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8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113582" y="617591"/>
            <a:ext cx="12019616" cy="44497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3777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Как мы измеряем справедливость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CEEE1-14EC-4C3A-8D82-2ECB5489E91F}"/>
              </a:ext>
            </a:extLst>
          </p:cNvPr>
          <p:cNvSpPr txBox="1"/>
          <p:nvPr/>
        </p:nvSpPr>
        <p:spPr>
          <a:xfrm>
            <a:off x="79512" y="653736"/>
            <a:ext cx="12032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Метрики и подходы</a:t>
            </a:r>
            <a:endParaRPr lang="ru-RU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2182BA5D-6CAA-45AB-8479-34D58B3C0531}"/>
              </a:ext>
            </a:extLst>
          </p:cNvPr>
          <p:cNvGrpSpPr/>
          <p:nvPr/>
        </p:nvGrpSpPr>
        <p:grpSpPr>
          <a:xfrm>
            <a:off x="113582" y="1329090"/>
            <a:ext cx="5783908" cy="2043316"/>
            <a:chOff x="274320" y="960120"/>
            <a:chExt cx="4160520" cy="1783080"/>
          </a:xfrm>
        </p:grpSpPr>
        <p:sp useBgFill="1">
          <p:nvSpPr>
            <p:cNvPr id="22" name="Shape 2">
              <a:extLst>
                <a:ext uri="{FF2B5EF4-FFF2-40B4-BE49-F238E27FC236}">
                  <a16:creationId xmlns:a16="http://schemas.microsoft.com/office/drawing/2014/main" id="{BEE55D02-8474-4963-8A56-153D382080C6}"/>
                </a:ext>
              </a:extLst>
            </p:cNvPr>
            <p:cNvSpPr/>
            <p:nvPr/>
          </p:nvSpPr>
          <p:spPr>
            <a:xfrm>
              <a:off x="274320" y="960120"/>
              <a:ext cx="4160520" cy="1783080"/>
            </a:xfrm>
            <a:prstGeom prst="rect">
              <a:avLst/>
            </a:prstGeom>
            <a:ln w="12700">
              <a:solidFill>
                <a:srgbClr val="D0DC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2A8678F8-E822-4410-A932-B0D15C3BFD44}"/>
                </a:ext>
              </a:extLst>
            </p:cNvPr>
            <p:cNvSpPr/>
            <p:nvPr/>
          </p:nvSpPr>
          <p:spPr>
            <a:xfrm>
              <a:off x="384048" y="1051560"/>
              <a:ext cx="1551711" cy="34747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4EACDEC3-5671-4E97-84F3-7C466A6E14A6}"/>
                </a:ext>
              </a:extLst>
            </p:cNvPr>
            <p:cNvSpPr/>
            <p:nvPr/>
          </p:nvSpPr>
          <p:spPr>
            <a:xfrm>
              <a:off x="384047" y="1051559"/>
              <a:ext cx="15791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ОСНОВНАЯ</a:t>
              </a:r>
              <a:endParaRPr lang="en-US" dirty="0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1584AD9A-69C6-4147-BFBB-6A9186B00D75}"/>
                </a:ext>
              </a:extLst>
            </p:cNvPr>
            <p:cNvSpPr/>
            <p:nvPr/>
          </p:nvSpPr>
          <p:spPr>
            <a:xfrm>
              <a:off x="411480" y="1344168"/>
              <a:ext cx="3886200" cy="5303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Равные возможности</a:t>
              </a:r>
              <a:endParaRPr lang="en-US" sz="1600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46453085-8520-4F49-8D24-33A8BF621C75}"/>
                </a:ext>
              </a:extLst>
            </p:cNvPr>
            <p:cNvSpPr/>
            <p:nvPr/>
          </p:nvSpPr>
          <p:spPr>
            <a:xfrm>
              <a:off x="411480" y="1673352"/>
              <a:ext cx="3886200" cy="4937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5F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TPR(age&lt;45) = TPR(age&gt;=45)</a:t>
              </a:r>
              <a:endParaRPr lang="en-US" sz="1200" dirty="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55CDE5FB-B05B-4E8D-A809-F544E8607E8D}"/>
                </a:ext>
              </a:extLst>
            </p:cNvPr>
            <p:cNvSpPr/>
            <p:nvPr/>
          </p:nvSpPr>
          <p:spPr>
            <a:xfrm>
              <a:off x="411480" y="1965960"/>
              <a:ext cx="38862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Защищает объективно квалифицированных кандидатов 45+, не игнорируя разницу в составе групп.</a:t>
              </a:r>
              <a:endParaRPr lang="en-US" sz="12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B412B9F-D870-45B4-BABB-AEDCC6027C46}"/>
              </a:ext>
            </a:extLst>
          </p:cNvPr>
          <p:cNvGrpSpPr/>
          <p:nvPr/>
        </p:nvGrpSpPr>
        <p:grpSpPr>
          <a:xfrm>
            <a:off x="6201145" y="4099112"/>
            <a:ext cx="5783908" cy="2043316"/>
            <a:chOff x="274320" y="2880360"/>
            <a:chExt cx="4160520" cy="1783080"/>
          </a:xfrm>
        </p:grpSpPr>
        <p:sp useBgFill="1">
          <p:nvSpPr>
            <p:cNvPr id="31" name="Shape 14">
              <a:extLst>
                <a:ext uri="{FF2B5EF4-FFF2-40B4-BE49-F238E27FC236}">
                  <a16:creationId xmlns:a16="http://schemas.microsoft.com/office/drawing/2014/main" id="{266F7065-DBD5-4AAB-9DD1-7E8B3D72B6B1}"/>
                </a:ext>
              </a:extLst>
            </p:cNvPr>
            <p:cNvSpPr/>
            <p:nvPr/>
          </p:nvSpPr>
          <p:spPr>
            <a:xfrm>
              <a:off x="274320" y="2880360"/>
              <a:ext cx="4160520" cy="1783080"/>
            </a:xfrm>
            <a:prstGeom prst="rect">
              <a:avLst/>
            </a:prstGeom>
            <a:ln w="12700">
              <a:solidFill>
                <a:srgbClr val="D0DC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Shape 15">
              <a:extLst>
                <a:ext uri="{FF2B5EF4-FFF2-40B4-BE49-F238E27FC236}">
                  <a16:creationId xmlns:a16="http://schemas.microsoft.com/office/drawing/2014/main" id="{F277B8D9-5B9D-4B43-8B3F-C520B0E3E102}"/>
                </a:ext>
              </a:extLst>
            </p:cNvPr>
            <p:cNvSpPr/>
            <p:nvPr/>
          </p:nvSpPr>
          <p:spPr>
            <a:xfrm>
              <a:off x="384048" y="2971800"/>
              <a:ext cx="1552607" cy="32918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ru-RU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БАЗОВАЯ МЕРА</a:t>
              </a:r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2B6B8A6B-EED3-4B89-B43C-DD57BE46705D}"/>
                </a:ext>
              </a:extLst>
            </p:cNvPr>
            <p:cNvSpPr/>
            <p:nvPr/>
          </p:nvSpPr>
          <p:spPr>
            <a:xfrm>
              <a:off x="411480" y="3339058"/>
              <a:ext cx="38862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Неосведомлённость (FTA)</a:t>
              </a:r>
              <a:endParaRPr lang="en-US" sz="1600" dirty="0"/>
            </a:p>
          </p:txBody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6DCC75FE-F69A-4DE0-B9CD-A73366E4D7F7}"/>
                </a:ext>
              </a:extLst>
            </p:cNvPr>
            <p:cNvSpPr/>
            <p:nvPr/>
          </p:nvSpPr>
          <p:spPr>
            <a:xfrm>
              <a:off x="411480" y="3729807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5F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Удалить: graduation_year, outdated_vocab, youth_hobby</a:t>
              </a:r>
              <a:endParaRPr lang="en-US" sz="1200" dirty="0"/>
            </a:p>
          </p:txBody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2C7D8598-4526-4750-A2D8-C7608340E4C8}"/>
                </a:ext>
              </a:extLst>
            </p:cNvPr>
            <p:cNvSpPr/>
            <p:nvPr/>
          </p:nvSpPr>
          <p:spPr>
            <a:xfrm>
              <a:off x="411480" y="3886200"/>
              <a:ext cx="38862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Устраняет явные каналы дискриминации. Снижает ROC-AUC </a:t>
              </a: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приблизительно 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2-3 п.п. - приемлемая цена.</a:t>
              </a:r>
              <a:endParaRPr lang="en-US" sz="12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0AECAD19-10E1-407C-B132-DF36F8F359B6}"/>
              </a:ext>
            </a:extLst>
          </p:cNvPr>
          <p:cNvGrpSpPr/>
          <p:nvPr/>
        </p:nvGrpSpPr>
        <p:grpSpPr>
          <a:xfrm>
            <a:off x="113582" y="4099112"/>
            <a:ext cx="5783908" cy="2043316"/>
            <a:chOff x="274320" y="2880360"/>
            <a:chExt cx="4160520" cy="1783080"/>
          </a:xfrm>
        </p:grpSpPr>
        <p:sp useBgFill="1">
          <p:nvSpPr>
            <p:cNvPr id="62" name="Shape 14">
              <a:extLst>
                <a:ext uri="{FF2B5EF4-FFF2-40B4-BE49-F238E27FC236}">
                  <a16:creationId xmlns:a16="http://schemas.microsoft.com/office/drawing/2014/main" id="{F068F4FC-7C97-4BB0-8049-DA2DFD4ABEBE}"/>
                </a:ext>
              </a:extLst>
            </p:cNvPr>
            <p:cNvSpPr/>
            <p:nvPr/>
          </p:nvSpPr>
          <p:spPr>
            <a:xfrm>
              <a:off x="274320" y="2880360"/>
              <a:ext cx="4160520" cy="1783080"/>
            </a:xfrm>
            <a:prstGeom prst="rect">
              <a:avLst/>
            </a:prstGeom>
            <a:ln w="12700">
              <a:solidFill>
                <a:srgbClr val="D0DC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63" name="Shape 15">
              <a:extLst>
                <a:ext uri="{FF2B5EF4-FFF2-40B4-BE49-F238E27FC236}">
                  <a16:creationId xmlns:a16="http://schemas.microsoft.com/office/drawing/2014/main" id="{83C3D018-66C6-4ACE-BBCB-0890D0DF3354}"/>
                </a:ext>
              </a:extLst>
            </p:cNvPr>
            <p:cNvSpPr/>
            <p:nvPr/>
          </p:nvSpPr>
          <p:spPr>
            <a:xfrm>
              <a:off x="384048" y="2971800"/>
              <a:ext cx="1552607" cy="329184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ru-RU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ДОПОЛНИТЕЛЬНАЯ</a:t>
              </a:r>
            </a:p>
          </p:txBody>
        </p:sp>
        <p:sp>
          <p:nvSpPr>
            <p:cNvPr id="64" name="Text 17">
              <a:extLst>
                <a:ext uri="{FF2B5EF4-FFF2-40B4-BE49-F238E27FC236}">
                  <a16:creationId xmlns:a16="http://schemas.microsoft.com/office/drawing/2014/main" id="{D4506FFE-F844-4023-AFAD-ECF69A208973}"/>
                </a:ext>
              </a:extLst>
            </p:cNvPr>
            <p:cNvSpPr/>
            <p:nvPr/>
          </p:nvSpPr>
          <p:spPr>
            <a:xfrm>
              <a:off x="411480" y="3339058"/>
              <a:ext cx="38862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Равная точность</a:t>
              </a:r>
              <a:endParaRPr lang="en-US" sz="1600" dirty="0"/>
            </a:p>
          </p:txBody>
        </p:sp>
        <p:sp>
          <p:nvSpPr>
            <p:cNvPr id="65" name="Text 18">
              <a:extLst>
                <a:ext uri="{FF2B5EF4-FFF2-40B4-BE49-F238E27FC236}">
                  <a16:creationId xmlns:a16="http://schemas.microsoft.com/office/drawing/2014/main" id="{7A1C174C-A3C0-4F10-9484-A4BB41FFBDF6}"/>
                </a:ext>
              </a:extLst>
            </p:cNvPr>
            <p:cNvSpPr/>
            <p:nvPr/>
          </p:nvSpPr>
          <p:spPr>
            <a:xfrm>
              <a:off x="411480" y="3729807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5F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P(success|score=s, age&lt;45) = P(success|score=s, age&gt;=45)</a:t>
              </a:r>
              <a:endParaRPr lang="en-US" sz="1200" dirty="0"/>
            </a:p>
          </p:txBody>
        </p:sp>
        <p:sp>
          <p:nvSpPr>
            <p:cNvPr id="66" name="Text 19">
              <a:extLst>
                <a:ext uri="{FF2B5EF4-FFF2-40B4-BE49-F238E27FC236}">
                  <a16:creationId xmlns:a16="http://schemas.microsoft.com/office/drawing/2014/main" id="{B25D68DA-EFA9-45DF-817D-894B72118814}"/>
                </a:ext>
              </a:extLst>
            </p:cNvPr>
            <p:cNvSpPr/>
            <p:nvPr/>
          </p:nvSpPr>
          <p:spPr>
            <a:xfrm>
              <a:off x="411480" y="3886200"/>
              <a:ext cx="38862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Проверяет честность числовой оценки для каждого кандидата.</a:t>
              </a:r>
              <a:endParaRPr lang="en-US" sz="12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EAD4A283-1217-4DDE-8EBA-4B7B88FF0CB4}"/>
              </a:ext>
            </a:extLst>
          </p:cNvPr>
          <p:cNvGrpSpPr/>
          <p:nvPr/>
        </p:nvGrpSpPr>
        <p:grpSpPr>
          <a:xfrm>
            <a:off x="6201145" y="1329090"/>
            <a:ext cx="5783908" cy="2043316"/>
            <a:chOff x="274320" y="960120"/>
            <a:chExt cx="4160520" cy="1783080"/>
          </a:xfrm>
        </p:grpSpPr>
        <p:sp useBgFill="1">
          <p:nvSpPr>
            <p:cNvPr id="68" name="Shape 2">
              <a:extLst>
                <a:ext uri="{FF2B5EF4-FFF2-40B4-BE49-F238E27FC236}">
                  <a16:creationId xmlns:a16="http://schemas.microsoft.com/office/drawing/2014/main" id="{864B8601-1CB3-44B3-A4C4-A32D1141B0AF}"/>
                </a:ext>
              </a:extLst>
            </p:cNvPr>
            <p:cNvSpPr/>
            <p:nvPr/>
          </p:nvSpPr>
          <p:spPr>
            <a:xfrm>
              <a:off x="274320" y="960120"/>
              <a:ext cx="4160520" cy="1783080"/>
            </a:xfrm>
            <a:prstGeom prst="rect">
              <a:avLst/>
            </a:prstGeom>
            <a:ln w="12700">
              <a:solidFill>
                <a:srgbClr val="D0DC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9" name="Shape 3">
              <a:extLst>
                <a:ext uri="{FF2B5EF4-FFF2-40B4-BE49-F238E27FC236}">
                  <a16:creationId xmlns:a16="http://schemas.microsoft.com/office/drawing/2014/main" id="{2A000D8D-D66E-4587-8D01-FF0CCD9DD48F}"/>
                </a:ext>
              </a:extLst>
            </p:cNvPr>
            <p:cNvSpPr/>
            <p:nvPr/>
          </p:nvSpPr>
          <p:spPr>
            <a:xfrm>
              <a:off x="384048" y="1051560"/>
              <a:ext cx="1551711" cy="34747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ru-RU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0" name="Text 4">
              <a:extLst>
                <a:ext uri="{FF2B5EF4-FFF2-40B4-BE49-F238E27FC236}">
                  <a16:creationId xmlns:a16="http://schemas.microsoft.com/office/drawing/2014/main" id="{8C51DC15-F61A-4417-8859-F9CE34EBD8A2}"/>
                </a:ext>
              </a:extLst>
            </p:cNvPr>
            <p:cNvSpPr/>
            <p:nvPr/>
          </p:nvSpPr>
          <p:spPr>
            <a:xfrm>
              <a:off x="384047" y="1051559"/>
              <a:ext cx="15791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ДИАГНОСТИКА</a:t>
              </a:r>
              <a:endParaRPr lang="en-US" dirty="0"/>
            </a:p>
          </p:txBody>
        </p:sp>
        <p:sp>
          <p:nvSpPr>
            <p:cNvPr id="71" name="Text 5">
              <a:extLst>
                <a:ext uri="{FF2B5EF4-FFF2-40B4-BE49-F238E27FC236}">
                  <a16:creationId xmlns:a16="http://schemas.microsoft.com/office/drawing/2014/main" id="{3ABD670C-548B-4EC6-A35B-B1261A6C3736}"/>
                </a:ext>
              </a:extLst>
            </p:cNvPr>
            <p:cNvSpPr/>
            <p:nvPr/>
          </p:nvSpPr>
          <p:spPr>
            <a:xfrm>
              <a:off x="411480" y="1344168"/>
              <a:ext cx="3886200" cy="5303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6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Демографический паритет</a:t>
              </a:r>
              <a:endParaRPr lang="en-US" sz="1600" dirty="0"/>
            </a:p>
          </p:txBody>
        </p:sp>
        <p:sp>
          <p:nvSpPr>
            <p:cNvPr id="72" name="Text 6">
              <a:extLst>
                <a:ext uri="{FF2B5EF4-FFF2-40B4-BE49-F238E27FC236}">
                  <a16:creationId xmlns:a16="http://schemas.microsoft.com/office/drawing/2014/main" id="{32AC0F3B-CE0E-4066-9435-84F1C2389F03}"/>
                </a:ext>
              </a:extLst>
            </p:cNvPr>
            <p:cNvSpPr/>
            <p:nvPr/>
          </p:nvSpPr>
          <p:spPr>
            <a:xfrm>
              <a:off x="411480" y="1673352"/>
              <a:ext cx="3886200" cy="4937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5F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P(decision=1|age&lt;45) ≈ P(decision=1|age&gt;=45)</a:t>
              </a:r>
              <a:endParaRPr lang="en-US" sz="1200" dirty="0"/>
            </a:p>
          </p:txBody>
        </p:sp>
        <p:sp>
          <p:nvSpPr>
            <p:cNvPr id="73" name="Text 7">
              <a:extLst>
                <a:ext uri="{FF2B5EF4-FFF2-40B4-BE49-F238E27FC236}">
                  <a16:creationId xmlns:a16="http://schemas.microsoft.com/office/drawing/2014/main" id="{CD61041C-7811-4EE5-AF73-8D5D90028D82}"/>
                </a:ext>
              </a:extLst>
            </p:cNvPr>
            <p:cNvSpPr/>
            <p:nvPr/>
          </p:nvSpPr>
          <p:spPr>
            <a:xfrm>
              <a:off x="411480" y="1965960"/>
              <a:ext cx="38862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Выявляет масштаб проблемы. Допустимое отклонение &lt;= 10-15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п.п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dirty="0"/>
            </a:p>
          </p:txBody>
        </p:sp>
      </p:grpSp>
      <p:sp>
        <p:nvSpPr>
          <p:cNvPr id="75" name="Text 27">
            <a:extLst>
              <a:ext uri="{FF2B5EF4-FFF2-40B4-BE49-F238E27FC236}">
                <a16:creationId xmlns:a16="http://schemas.microsoft.com/office/drawing/2014/main" id="{CEEA740F-83B0-4976-ABC0-4E20D0AFA3E0}"/>
              </a:ext>
            </a:extLst>
          </p:cNvPr>
          <p:cNvSpPr/>
          <p:nvPr/>
        </p:nvSpPr>
        <p:spPr>
          <a:xfrm>
            <a:off x="264693" y="6320376"/>
            <a:ext cx="11720359" cy="444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равные возможности и демографический паритет не могут выполняться одновременно - выбран подход, защищающий квалифицированных кандидатов.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4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03482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Что мы делаем прямо сейчас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48C84-397A-4981-9B19-D22D8278955A}"/>
              </a:ext>
            </a:extLst>
          </p:cNvPr>
          <p:cNvSpPr txBox="1"/>
          <p:nvPr/>
        </p:nvSpPr>
        <p:spPr>
          <a:xfrm>
            <a:off x="79512" y="653736"/>
            <a:ext cx="12032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14-дневный план без переобучения модели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371949F-E96F-4F6F-AF59-9A36978532CA}"/>
              </a:ext>
            </a:extLst>
          </p:cNvPr>
          <p:cNvSpPr/>
          <p:nvPr/>
        </p:nvSpPr>
        <p:spPr>
          <a:xfrm>
            <a:off x="113582" y="617591"/>
            <a:ext cx="12019616" cy="44497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B1FABE5-CC7E-4B94-8B29-6F6687172F7E}"/>
              </a:ext>
            </a:extLst>
          </p:cNvPr>
          <p:cNvGrpSpPr/>
          <p:nvPr/>
        </p:nvGrpSpPr>
        <p:grpSpPr>
          <a:xfrm>
            <a:off x="113582" y="1308393"/>
            <a:ext cx="11837786" cy="5316996"/>
            <a:chOff x="594360" y="987552"/>
            <a:chExt cx="8321040" cy="3840480"/>
          </a:xfrm>
        </p:grpSpPr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32A79624-9988-4038-84DD-8F96E1E9F8FD}"/>
                </a:ext>
              </a:extLst>
            </p:cNvPr>
            <p:cNvSpPr/>
            <p:nvPr/>
          </p:nvSpPr>
          <p:spPr>
            <a:xfrm>
              <a:off x="594360" y="106984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1-2</a:t>
              </a:r>
              <a:endParaRPr lang="en-US" dirty="0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C5E35028-DE08-4CA0-91B6-77979AE0F49E}"/>
                </a:ext>
              </a:extLst>
            </p:cNvPr>
            <p:cNvSpPr/>
            <p:nvPr/>
          </p:nvSpPr>
          <p:spPr>
            <a:xfrm>
              <a:off x="1965960" y="1069848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Удаление прокси-переменных</a:t>
              </a:r>
              <a:endParaRPr lang="en-US" sz="1600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70224993-2EAB-4379-A63B-A98245BA6D3C}"/>
                </a:ext>
              </a:extLst>
            </p:cNvPr>
            <p:cNvSpPr/>
            <p:nvPr/>
          </p:nvSpPr>
          <p:spPr>
            <a:xfrm>
              <a:off x="4846320" y="987552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Исключить graduation_year, outdated_vocab, youth_hobby из входных данных модели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Провести тест: пересчитать scores без этих признаков, измерить падение ROC-AUC (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ожидается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&lt;=3 п.п.)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Задокументировать изменение в технической документации</a:t>
              </a:r>
              <a:endParaRPr lang="en-US" sz="1200" dirty="0"/>
            </a:p>
          </p:txBody>
        </p:sp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C255470E-BDC1-46FE-9404-E5E24358AE06}"/>
                </a:ext>
              </a:extLst>
            </p:cNvPr>
            <p:cNvSpPr/>
            <p:nvPr/>
          </p:nvSpPr>
          <p:spPr>
            <a:xfrm>
              <a:off x="594360" y="1682496"/>
              <a:ext cx="8321040" cy="18288"/>
            </a:xfrm>
            <a:prstGeom prst="rect">
              <a:avLst/>
            </a:prstGeom>
            <a:solidFill>
              <a:srgbClr val="E0E8F0"/>
            </a:solidFill>
            <a:ln w="12700">
              <a:solidFill>
                <a:srgbClr val="E0E8F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11D01BDC-230E-45CD-AE5B-9A5262694E19}"/>
                </a:ext>
              </a:extLst>
            </p:cNvPr>
            <p:cNvSpPr/>
            <p:nvPr/>
          </p:nvSpPr>
          <p:spPr>
            <a:xfrm>
              <a:off x="594360" y="186537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rgbClr val="B7770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rgbClr val="B7770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3-5</a:t>
              </a:r>
              <a:endParaRPr lang="en-US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41AE724B-C559-4D76-9C2D-71CD9C937CCB}"/>
                </a:ext>
              </a:extLst>
            </p:cNvPr>
            <p:cNvSpPr/>
            <p:nvPr/>
          </p:nvSpPr>
          <p:spPr>
            <a:xfrm>
              <a:off x="1965960" y="1865376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Калибровка и валидация</a:t>
              </a:r>
              <a:endParaRPr lang="en-US" sz="1600" dirty="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47B4D147-5DBD-47C3-A957-7A9AB8D660CC}"/>
                </a:ext>
              </a:extLst>
            </p:cNvPr>
            <p:cNvSpPr/>
            <p:nvPr/>
          </p:nvSpPr>
          <p:spPr>
            <a:xfrm>
              <a:off x="4846320" y="1783080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Рассчитать метрики справедливости (TPR gap, демографический паритет) на тестовой выборке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Сравнить true_success между возрастными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группами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подтвердить отсутствие реальных различий в успешности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Составить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после</a:t>
              </a: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</a:t>
              </a: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отчёт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по метрикам для Этического паспорта</a:t>
              </a:r>
              <a:endParaRPr lang="en-US" sz="1200" dirty="0"/>
            </a:p>
          </p:txBody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4BD0429E-E22F-479B-A043-CB577F2D5B77}"/>
                </a:ext>
              </a:extLst>
            </p:cNvPr>
            <p:cNvSpPr/>
            <p:nvPr/>
          </p:nvSpPr>
          <p:spPr>
            <a:xfrm>
              <a:off x="594360" y="2478024"/>
              <a:ext cx="8321040" cy="18288"/>
            </a:xfrm>
            <a:prstGeom prst="rect">
              <a:avLst/>
            </a:prstGeom>
            <a:solidFill>
              <a:srgbClr val="E0E8F0"/>
            </a:solidFill>
            <a:ln w="12700">
              <a:solidFill>
                <a:srgbClr val="E0E8F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Text 16">
              <a:extLst>
                <a:ext uri="{FF2B5EF4-FFF2-40B4-BE49-F238E27FC236}">
                  <a16:creationId xmlns:a16="http://schemas.microsoft.com/office/drawing/2014/main" id="{9F0045BA-A177-41DA-B6D6-887622925191}"/>
                </a:ext>
              </a:extLst>
            </p:cNvPr>
            <p:cNvSpPr/>
            <p:nvPr/>
          </p:nvSpPr>
          <p:spPr>
            <a:xfrm>
              <a:off x="594360" y="2660904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rgbClr val="2C5F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rgbClr val="2C5F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6-8</a:t>
              </a:r>
              <a:endParaRPr lang="en-US" dirty="0"/>
            </a:p>
          </p:txBody>
        </p:sp>
        <p:sp>
          <p:nvSpPr>
            <p:cNvPr id="34" name="Text 17">
              <a:extLst>
                <a:ext uri="{FF2B5EF4-FFF2-40B4-BE49-F238E27FC236}">
                  <a16:creationId xmlns:a16="http://schemas.microsoft.com/office/drawing/2014/main" id="{05C7B099-4BE7-457B-B801-8CB21BC6B88C}"/>
                </a:ext>
              </a:extLst>
            </p:cNvPr>
            <p:cNvSpPr/>
            <p:nvPr/>
          </p:nvSpPr>
          <p:spPr>
            <a:xfrm>
              <a:off x="1965960" y="2660904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Процедурные меры</a:t>
              </a:r>
              <a:endParaRPr lang="en-US" sz="1600" dirty="0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6BD58868-CB76-4DA6-ADE0-B1D929DEF15C}"/>
                </a:ext>
              </a:extLst>
            </p:cNvPr>
            <p:cNvSpPr/>
            <p:nvPr/>
          </p:nvSpPr>
          <p:spPr>
            <a:xfrm>
              <a:off x="4846320" y="2578608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Внедрить логику квоты 45+ в интерфейс системы (предупреждение HR при формировании shortlist)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Настроить модуль апелляций: форма обратной связи + реестр апелляций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Подготовить инструкцию для HR-специалистов (на базе Политики использования)</a:t>
              </a:r>
              <a:endParaRPr lang="en-US" sz="1200" dirty="0"/>
            </a:p>
          </p:txBody>
        </p:sp>
        <p:sp>
          <p:nvSpPr>
            <p:cNvPr id="36" name="Shape 19">
              <a:extLst>
                <a:ext uri="{FF2B5EF4-FFF2-40B4-BE49-F238E27FC236}">
                  <a16:creationId xmlns:a16="http://schemas.microsoft.com/office/drawing/2014/main" id="{8B206132-7497-439F-9334-BC9E2EB6CE15}"/>
                </a:ext>
              </a:extLst>
            </p:cNvPr>
            <p:cNvSpPr/>
            <p:nvPr/>
          </p:nvSpPr>
          <p:spPr>
            <a:xfrm>
              <a:off x="594360" y="3273552"/>
              <a:ext cx="8321040" cy="18288"/>
            </a:xfrm>
            <a:prstGeom prst="rect">
              <a:avLst/>
            </a:prstGeom>
            <a:solidFill>
              <a:srgbClr val="E0E8F0"/>
            </a:solidFill>
            <a:ln w="12700">
              <a:solidFill>
                <a:srgbClr val="E0E8F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7" name="Text 22">
              <a:extLst>
                <a:ext uri="{FF2B5EF4-FFF2-40B4-BE49-F238E27FC236}">
                  <a16:creationId xmlns:a16="http://schemas.microsoft.com/office/drawing/2014/main" id="{7C1FF0D3-FCC1-4620-9B3F-84CDDF04E0A4}"/>
                </a:ext>
              </a:extLst>
            </p:cNvPr>
            <p:cNvSpPr/>
            <p:nvPr/>
          </p:nvSpPr>
          <p:spPr>
            <a:xfrm>
              <a:off x="594360" y="345643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rgbClr val="27AE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rgbClr val="27AE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9-12</a:t>
              </a:r>
              <a:endParaRPr lang="en-US" dirty="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0137F6B-97F2-4BD9-9472-B42CEBF25C84}"/>
                </a:ext>
              </a:extLst>
            </p:cNvPr>
            <p:cNvSpPr/>
            <p:nvPr/>
          </p:nvSpPr>
          <p:spPr>
            <a:xfrm>
              <a:off x="1965960" y="3456432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Документы и согласование</a:t>
              </a:r>
              <a:endParaRPr lang="en-US" sz="1600" dirty="0"/>
            </a:p>
          </p:txBody>
        </p:sp>
        <p:sp>
          <p:nvSpPr>
            <p:cNvPr id="39" name="Text 24">
              <a:extLst>
                <a:ext uri="{FF2B5EF4-FFF2-40B4-BE49-F238E27FC236}">
                  <a16:creationId xmlns:a16="http://schemas.microsoft.com/office/drawing/2014/main" id="{A0DD387B-F7D1-4CFA-A5B4-00E3EC2792CF}"/>
                </a:ext>
              </a:extLst>
            </p:cNvPr>
            <p:cNvSpPr/>
            <p:nvPr/>
          </p:nvSpPr>
          <p:spPr>
            <a:xfrm>
              <a:off x="4846320" y="3374136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Финализировать Этический паспорт и Политику использования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Согласовать договор о передаче ПДн между ТехноРекрутом и МаркетПлюсом (152-ФЗ)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Провести 4-часовой обучающий семинар для HR-команды МаркетПлюса</a:t>
              </a:r>
              <a:endParaRPr lang="en-US" sz="1200" dirty="0"/>
            </a:p>
          </p:txBody>
        </p:sp>
        <p:sp>
          <p:nvSpPr>
            <p:cNvPr id="40" name="Shape 25">
              <a:extLst>
                <a:ext uri="{FF2B5EF4-FFF2-40B4-BE49-F238E27FC236}">
                  <a16:creationId xmlns:a16="http://schemas.microsoft.com/office/drawing/2014/main" id="{8A2F2425-B1A5-4C54-AF3C-1DB7D3220A44}"/>
                </a:ext>
              </a:extLst>
            </p:cNvPr>
            <p:cNvSpPr/>
            <p:nvPr/>
          </p:nvSpPr>
          <p:spPr>
            <a:xfrm>
              <a:off x="594360" y="4069080"/>
              <a:ext cx="8321040" cy="18288"/>
            </a:xfrm>
            <a:prstGeom prst="rect">
              <a:avLst/>
            </a:prstGeom>
            <a:solidFill>
              <a:srgbClr val="E0E8F0"/>
            </a:solidFill>
            <a:ln w="12700">
              <a:solidFill>
                <a:srgbClr val="E0E8F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Text 27">
              <a:extLst>
                <a:ext uri="{FF2B5EF4-FFF2-40B4-BE49-F238E27FC236}">
                  <a16:creationId xmlns:a16="http://schemas.microsoft.com/office/drawing/2014/main" id="{FF475871-927B-4243-9FC1-4F83132D4FBB}"/>
                </a:ext>
              </a:extLst>
            </p:cNvPr>
            <p:cNvSpPr/>
            <p:nvPr/>
          </p:nvSpPr>
          <p:spPr>
            <a:xfrm>
              <a:off x="594360" y="425196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13-14</a:t>
              </a:r>
              <a:endParaRPr lang="en-US" dirty="0"/>
            </a:p>
          </p:txBody>
        </p:sp>
        <p:sp>
          <p:nvSpPr>
            <p:cNvPr id="42" name="Text 28">
              <a:extLst>
                <a:ext uri="{FF2B5EF4-FFF2-40B4-BE49-F238E27FC236}">
                  <a16:creationId xmlns:a16="http://schemas.microsoft.com/office/drawing/2014/main" id="{3415F97B-974C-4CA5-BADF-7CA572AE118B}"/>
                </a:ext>
              </a:extLst>
            </p:cNvPr>
            <p:cNvSpPr/>
            <p:nvPr/>
          </p:nvSpPr>
          <p:spPr>
            <a:xfrm>
              <a:off x="1965960" y="425196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3A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Финальная презентация</a:t>
              </a:r>
              <a:endParaRPr lang="en-US" sz="1600" dirty="0"/>
            </a:p>
          </p:txBody>
        </p:sp>
        <p:sp>
          <p:nvSpPr>
            <p:cNvPr id="43" name="Text 29">
              <a:extLst>
                <a:ext uri="{FF2B5EF4-FFF2-40B4-BE49-F238E27FC236}">
                  <a16:creationId xmlns:a16="http://schemas.microsoft.com/office/drawing/2014/main" id="{28F3D2F5-6C65-44D4-96FC-F41674B2CCFB}"/>
                </a:ext>
              </a:extLst>
            </p:cNvPr>
            <p:cNvSpPr/>
            <p:nvPr/>
          </p:nvSpPr>
          <p:spPr>
            <a:xfrm>
              <a:off x="4846320" y="4169664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Демонстрация исправленной системы с новыми метриками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Подписание контракта и Этического паспорта как приложения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Утвердить дату первого квартального аудита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516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03482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Юридическая защита от рисков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0211716F-C730-4BD8-B01B-0502EC075F64}"/>
              </a:ext>
            </a:extLst>
          </p:cNvPr>
          <p:cNvGrpSpPr/>
          <p:nvPr/>
        </p:nvGrpSpPr>
        <p:grpSpPr>
          <a:xfrm>
            <a:off x="274320" y="1005839"/>
            <a:ext cx="11677048" cy="5587465"/>
            <a:chOff x="274320" y="1005840"/>
            <a:chExt cx="8595360" cy="3502152"/>
          </a:xfrm>
        </p:grpSpPr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1FDAD081-9ACD-4D1F-9191-8C596F85F7D8}"/>
                </a:ext>
              </a:extLst>
            </p:cNvPr>
            <p:cNvSpPr/>
            <p:nvPr/>
          </p:nvSpPr>
          <p:spPr>
            <a:xfrm>
              <a:off x="274320" y="1005840"/>
              <a:ext cx="4937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СООТВЕТСТВИЕ НОРМАМ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 useBgFill="1">
          <p:nvSpPr>
            <p:cNvPr id="46" name="Shape 4">
              <a:extLst>
                <a:ext uri="{FF2B5EF4-FFF2-40B4-BE49-F238E27FC236}">
                  <a16:creationId xmlns:a16="http://schemas.microsoft.com/office/drawing/2014/main" id="{ED14E063-1E69-4953-AE52-95DAFE23E95C}"/>
                </a:ext>
              </a:extLst>
            </p:cNvPr>
            <p:cNvSpPr/>
            <p:nvPr/>
          </p:nvSpPr>
          <p:spPr>
            <a:xfrm>
              <a:off x="365760" y="1417320"/>
              <a:ext cx="1143000" cy="502920"/>
            </a:xfrm>
            <a:prstGeom prst="rect">
              <a:avLst/>
            </a:prstGeom>
            <a:ln w="19050">
              <a:gradFill flip="none" rotWithShape="1"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Ст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3 ТК РФ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7" name="Text 6">
              <a:extLst>
                <a:ext uri="{FF2B5EF4-FFF2-40B4-BE49-F238E27FC236}">
                  <a16:creationId xmlns:a16="http://schemas.microsoft.com/office/drawing/2014/main" id="{0231D4DE-6310-428D-B335-5D72C0DDAC20}"/>
                </a:ext>
              </a:extLst>
            </p:cNvPr>
            <p:cNvSpPr/>
            <p:nvPr/>
          </p:nvSpPr>
          <p:spPr>
            <a:xfrm>
              <a:off x="1572768" y="1453896"/>
              <a:ext cx="35204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Запрещает ограничение трудовых прав по возрастному признаку. Использование статистически связанных с возрастом прокси-переменных может рассматриваться как косвенная дискриминация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 useBgFill="1">
          <p:nvSpPr>
            <p:cNvPr id="48" name="Shape 7">
              <a:extLst>
                <a:ext uri="{FF2B5EF4-FFF2-40B4-BE49-F238E27FC236}">
                  <a16:creationId xmlns:a16="http://schemas.microsoft.com/office/drawing/2014/main" id="{C63CAF0B-F7AD-4B9D-BF70-BE900AC61F0D}"/>
                </a:ext>
              </a:extLst>
            </p:cNvPr>
            <p:cNvSpPr/>
            <p:nvPr/>
          </p:nvSpPr>
          <p:spPr>
            <a:xfrm>
              <a:off x="365760" y="2048256"/>
              <a:ext cx="1143000" cy="502920"/>
            </a:xfrm>
            <a:prstGeom prst="rect">
              <a:avLst/>
            </a:prstGeom>
            <a:ln w="1905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 anchor="ctr"/>
            <a:lstStyle/>
            <a:p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Ст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64 ТК РФ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FA401F41-0B26-48FF-855D-A297D06BBD23}"/>
                </a:ext>
              </a:extLst>
            </p:cNvPr>
            <p:cNvSpPr/>
            <p:nvPr/>
          </p:nvSpPr>
          <p:spPr>
            <a:xfrm>
              <a:off x="1572768" y="2084832"/>
              <a:ext cx="35204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Запрещает необоснованный отказ в заключении трудового договора. Автоматическое отклонение без права пересмотра может подпадать под эту норму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 useBgFill="1">
          <p:nvSpPr>
            <p:cNvPr id="50" name="Shape 10">
              <a:extLst>
                <a:ext uri="{FF2B5EF4-FFF2-40B4-BE49-F238E27FC236}">
                  <a16:creationId xmlns:a16="http://schemas.microsoft.com/office/drawing/2014/main" id="{11227B88-A59C-4CE3-939A-A69D9E55FF3A}"/>
                </a:ext>
              </a:extLst>
            </p:cNvPr>
            <p:cNvSpPr/>
            <p:nvPr/>
          </p:nvSpPr>
          <p:spPr>
            <a:xfrm>
              <a:off x="365760" y="2679192"/>
              <a:ext cx="1143000" cy="502920"/>
            </a:xfrm>
            <a:prstGeom prst="rect">
              <a:avLst/>
            </a:prstGeom>
            <a:ln w="1905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152-ФЗ, </a:t>
              </a:r>
              <a:endParaRPr lang="ru-RU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algn="ctr"/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ст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22.1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A2CD0614-73CC-468F-AFC7-5A5E3713C402}"/>
                </a:ext>
              </a:extLst>
            </p:cNvPr>
            <p:cNvSpPr/>
            <p:nvPr/>
          </p:nvSpPr>
          <p:spPr>
            <a:xfrm>
              <a:off x="1572768" y="2715768"/>
              <a:ext cx="35204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Предоставляет субъекту право оспаривания решений, основанных исключительно на автоматизированной обработке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53" name="Text 15">
              <a:extLst>
                <a:ext uri="{FF2B5EF4-FFF2-40B4-BE49-F238E27FC236}">
                  <a16:creationId xmlns:a16="http://schemas.microsoft.com/office/drawing/2014/main" id="{5AC9EC44-A3A0-4785-BA5A-5CD34B48DFE7}"/>
                </a:ext>
              </a:extLst>
            </p:cNvPr>
            <p:cNvSpPr/>
            <p:nvPr/>
          </p:nvSpPr>
          <p:spPr>
            <a:xfrm>
              <a:off x="1572768" y="3346704"/>
              <a:ext cx="35204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Предоставляет субъекту право оспаривания решений, основанных исключительно на автоматизированной обработке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F813D417-82C4-40BE-86BE-4FF1E514EB6E}"/>
                </a:ext>
              </a:extLst>
            </p:cNvPr>
            <p:cNvSpPr/>
            <p:nvPr/>
          </p:nvSpPr>
          <p:spPr>
            <a:xfrm>
              <a:off x="1572768" y="3977640"/>
              <a:ext cx="35204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Кандидаты должны быть информированы об использовании автоматизированной системы отбора.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56" name="Text 20">
              <a:extLst>
                <a:ext uri="{FF2B5EF4-FFF2-40B4-BE49-F238E27FC236}">
                  <a16:creationId xmlns:a16="http://schemas.microsoft.com/office/drawing/2014/main" id="{402A7C32-5A05-44C9-AEA0-BE3C08B60BEB}"/>
                </a:ext>
              </a:extLst>
            </p:cNvPr>
            <p:cNvSpPr/>
            <p:nvPr/>
          </p:nvSpPr>
          <p:spPr>
            <a:xfrm>
              <a:off x="5394960" y="1005840"/>
              <a:ext cx="34747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ДОГОВОРНАЯ ЗАЩИТА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924797A3-E6AE-4AC3-A460-A137DF306510}"/>
                </a:ext>
              </a:extLst>
            </p:cNvPr>
            <p:cNvSpPr/>
            <p:nvPr/>
          </p:nvSpPr>
          <p:spPr>
            <a:xfrm>
              <a:off x="5870448" y="146304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Лицензионный договор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32382546-AF5D-4A87-9F47-EFC9F8C69495}"/>
                </a:ext>
              </a:extLst>
            </p:cNvPr>
            <p:cNvSpPr/>
            <p:nvPr/>
          </p:nvSpPr>
          <p:spPr>
            <a:xfrm>
              <a:off x="5870448" y="171907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Чёткое разграничение ответственности: ТехноРекрут отвечает за работоспособность модели,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МаркетПлюс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за соблюдение Политики использования.</a:t>
              </a:r>
              <a:endParaRPr lang="en-US" sz="1200" dirty="0"/>
            </a:p>
          </p:txBody>
        </p:sp>
        <p:sp>
          <p:nvSpPr>
            <p:cNvPr id="59" name="Text 25">
              <a:extLst>
                <a:ext uri="{FF2B5EF4-FFF2-40B4-BE49-F238E27FC236}">
                  <a16:creationId xmlns:a16="http://schemas.microsoft.com/office/drawing/2014/main" id="{9809095F-F45F-4E56-B29F-BF3D5292E7E7}"/>
                </a:ext>
              </a:extLst>
            </p:cNvPr>
            <p:cNvSpPr/>
            <p:nvPr/>
          </p:nvSpPr>
          <p:spPr>
            <a:xfrm>
              <a:off x="5870448" y="224028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Ограничение ответственности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2E7B634C-B795-4D64-897D-EE9B90B17C06}"/>
                </a:ext>
              </a:extLst>
            </p:cNvPr>
            <p:cNvSpPr/>
            <p:nvPr/>
          </p:nvSpPr>
          <p:spPr>
            <a:xfrm>
              <a:off x="5870448" y="249631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Пункт договора: ТехноРекрут не несёт ответственности за решения, принятые клиентом в нарушение Политики использования.</a:t>
              </a:r>
              <a:endParaRPr lang="en-US" sz="1200" dirty="0"/>
            </a:p>
          </p:txBody>
        </p:sp>
        <p:sp>
          <p:nvSpPr>
            <p:cNvPr id="61" name="Text 28">
              <a:extLst>
                <a:ext uri="{FF2B5EF4-FFF2-40B4-BE49-F238E27FC236}">
                  <a16:creationId xmlns:a16="http://schemas.microsoft.com/office/drawing/2014/main" id="{7B10AC6C-AC6D-40D8-97E2-A520D7B4CE2C}"/>
                </a:ext>
              </a:extLst>
            </p:cNvPr>
            <p:cNvSpPr/>
            <p:nvPr/>
          </p:nvSpPr>
          <p:spPr>
            <a:xfrm>
              <a:off x="5870448" y="301752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Соглашение об обработке ПДн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2" name="Text 29">
              <a:extLst>
                <a:ext uri="{FF2B5EF4-FFF2-40B4-BE49-F238E27FC236}">
                  <a16:creationId xmlns:a16="http://schemas.microsoft.com/office/drawing/2014/main" id="{8EBE304E-FE2D-4A0D-8569-57453EB93111}"/>
                </a:ext>
              </a:extLst>
            </p:cNvPr>
            <p:cNvSpPr/>
            <p:nvPr/>
          </p:nvSpPr>
          <p:spPr>
            <a:xfrm>
              <a:off x="5870448" y="327355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Отдельный договор по ст. 6, 7 152-ФЗ. Определяет объём,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цели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и сроки обработки данных кандидатов.</a:t>
              </a:r>
              <a:endParaRPr lang="en-US" sz="1200" dirty="0"/>
            </a:p>
          </p:txBody>
        </p:sp>
        <p:sp>
          <p:nvSpPr>
            <p:cNvPr id="63" name="Text 31">
              <a:extLst>
                <a:ext uri="{FF2B5EF4-FFF2-40B4-BE49-F238E27FC236}">
                  <a16:creationId xmlns:a16="http://schemas.microsoft.com/office/drawing/2014/main" id="{5AE9CAE3-49B7-42CD-A279-C256673BC14B}"/>
                </a:ext>
              </a:extLst>
            </p:cNvPr>
            <p:cNvSpPr/>
            <p:nvPr/>
          </p:nvSpPr>
          <p:spPr>
            <a:xfrm>
              <a:off x="5870448" y="3794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Этический паспорт как приложение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4" name="Text 32">
              <a:extLst>
                <a:ext uri="{FF2B5EF4-FFF2-40B4-BE49-F238E27FC236}">
                  <a16:creationId xmlns:a16="http://schemas.microsoft.com/office/drawing/2014/main" id="{FDF184F8-7628-4EF7-A439-27098B680737}"/>
                </a:ext>
              </a:extLst>
            </p:cNvPr>
            <p:cNvSpPr/>
            <p:nvPr/>
          </p:nvSpPr>
          <p:spPr>
            <a:xfrm>
              <a:off x="5870448" y="405079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Паспорт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неотъемлемая часть договора. Фиксирует известные ограничения: снимает претензии об умолчании.</a:t>
              </a:r>
              <a:endParaRPr lang="en-US" sz="1200" dirty="0"/>
            </a:p>
          </p:txBody>
        </p:sp>
      </p:grpSp>
      <p:sp>
        <p:nvSpPr>
          <p:cNvPr id="65" name="Shape 13">
            <a:extLst>
              <a:ext uri="{FF2B5EF4-FFF2-40B4-BE49-F238E27FC236}">
                <a16:creationId xmlns:a16="http://schemas.microsoft.com/office/drawing/2014/main" id="{30654F88-D7E4-4636-9A30-628A8A2EF71D}"/>
              </a:ext>
            </a:extLst>
          </p:cNvPr>
          <p:cNvSpPr/>
          <p:nvPr/>
        </p:nvSpPr>
        <p:spPr>
          <a:xfrm rot="5400000" flipV="1">
            <a:off x="4625750" y="3840352"/>
            <a:ext cx="5255940" cy="45719"/>
          </a:xfrm>
          <a:prstGeom prst="rect">
            <a:avLst/>
          </a:prstGeom>
          <a:gradFill>
            <a:gsLst>
              <a:gs pos="0">
                <a:schemeClr val="tx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ru-RU"/>
          </a:p>
        </p:txBody>
      </p:sp>
      <p:sp useBgFill="1">
        <p:nvSpPr>
          <p:cNvPr id="66" name="Shape 10">
            <a:extLst>
              <a:ext uri="{FF2B5EF4-FFF2-40B4-BE49-F238E27FC236}">
                <a16:creationId xmlns:a16="http://schemas.microsoft.com/office/drawing/2014/main" id="{621FE08F-3AA8-4301-ADE9-06DE71E984C7}"/>
              </a:ext>
            </a:extLst>
          </p:cNvPr>
          <p:cNvSpPr/>
          <p:nvPr/>
        </p:nvSpPr>
        <p:spPr>
          <a:xfrm>
            <a:off x="398544" y="4689480"/>
            <a:ext cx="1552799" cy="802377"/>
          </a:xfrm>
          <a:prstGeom prst="rect">
            <a:avLst/>
          </a:prstGeom>
          <a:ln w="1905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</a:t>
            </a:r>
            <a:endParaRPr lang="ru-RU" b="1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22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 useBgFill="1">
        <p:nvSpPr>
          <p:cNvPr id="67" name="Shape 10">
            <a:extLst>
              <a:ext uri="{FF2B5EF4-FFF2-40B4-BE49-F238E27FC236}">
                <a16:creationId xmlns:a16="http://schemas.microsoft.com/office/drawing/2014/main" id="{A54D4F1E-19F0-4785-AD26-AECE7DD95487}"/>
              </a:ext>
            </a:extLst>
          </p:cNvPr>
          <p:cNvSpPr/>
          <p:nvPr/>
        </p:nvSpPr>
        <p:spPr>
          <a:xfrm>
            <a:off x="412289" y="5703392"/>
            <a:ext cx="1552799" cy="802377"/>
          </a:xfrm>
          <a:prstGeom prst="rect">
            <a:avLst/>
          </a:prstGeom>
          <a:ln w="1905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</a:t>
            </a:r>
            <a:endParaRPr lang="ru-RU" b="1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5(1)(a)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02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03482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Наше предложение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7DD49A0F-E0C4-4F62-8187-F933697832BC}"/>
              </a:ext>
            </a:extLst>
          </p:cNvPr>
          <p:cNvGrpSpPr/>
          <p:nvPr/>
        </p:nvGrpSpPr>
        <p:grpSpPr>
          <a:xfrm>
            <a:off x="228600" y="914399"/>
            <a:ext cx="11706726" cy="5614737"/>
            <a:chOff x="228600" y="914400"/>
            <a:chExt cx="8558784" cy="3858768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37D95F21-E7B4-42AF-9A28-60603F7E8B59}"/>
                </a:ext>
              </a:extLst>
            </p:cNvPr>
            <p:cNvSpPr/>
            <p:nvPr/>
          </p:nvSpPr>
          <p:spPr>
            <a:xfrm>
              <a:off x="228600" y="914400"/>
              <a:ext cx="2743200" cy="4572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739B9DE2-ADE4-4B78-BF1B-08894A768D3C}"/>
                </a:ext>
              </a:extLst>
            </p:cNvPr>
            <p:cNvSpPr/>
            <p:nvPr/>
          </p:nvSpPr>
          <p:spPr>
            <a:xfrm>
              <a:off x="228600" y="91440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Алексей (CEO)</a:t>
              </a:r>
              <a:endParaRPr lang="en-US" dirty="0"/>
            </a:p>
          </p:txBody>
        </p:sp>
        <p:sp>
          <p:nvSpPr>
            <p:cNvPr id="28" name="Shape 4">
              <a:extLst>
                <a:ext uri="{FF2B5EF4-FFF2-40B4-BE49-F238E27FC236}">
                  <a16:creationId xmlns:a16="http://schemas.microsoft.com/office/drawing/2014/main" id="{E222A8C9-F633-4809-955A-58FAB94BF978}"/>
                </a:ext>
              </a:extLst>
            </p:cNvPr>
            <p:cNvSpPr/>
            <p:nvPr/>
          </p:nvSpPr>
          <p:spPr>
            <a:xfrm>
              <a:off x="228600" y="1389888"/>
              <a:ext cx="2743200" cy="566928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17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FA8D46D9-85DD-4C7E-8955-DFCA10AF0171}"/>
                </a:ext>
              </a:extLst>
            </p:cNvPr>
            <p:cNvSpPr/>
            <p:nvPr/>
          </p:nvSpPr>
          <p:spPr>
            <a:xfrm>
              <a:off x="301752" y="1426464"/>
              <a:ext cx="26060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Подписать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контракт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</a:p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защитить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вложения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10 </a:t>
              </a: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млн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руб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A2731F59-9549-4AF1-B07D-DB21D10622B7}"/>
                </a:ext>
              </a:extLst>
            </p:cNvPr>
            <p:cNvSpPr/>
            <p:nvPr/>
          </p:nvSpPr>
          <p:spPr>
            <a:xfrm>
              <a:off x="228600" y="1984248"/>
              <a:ext cx="2743200" cy="2788920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F24819ED-F306-4D23-98EB-85DD351DBFB3}"/>
                </a:ext>
              </a:extLst>
            </p:cNvPr>
            <p:cNvSpPr/>
            <p:nvPr/>
          </p:nvSpPr>
          <p:spPr>
            <a:xfrm>
              <a:off x="320040" y="204825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 err="1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Получает</a:t>
              </a:r>
              <a:r>
                <a:rPr lang="en-US" sz="16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endParaRPr lang="en-US" sz="1600" dirty="0"/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51C5414F-0ABF-4021-AE9D-9C85782F79EC}"/>
                </a:ext>
              </a:extLst>
            </p:cNvPr>
            <p:cNvSpPr/>
            <p:nvPr/>
          </p:nvSpPr>
          <p:spPr>
            <a:xfrm>
              <a:off x="320040" y="2340864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Контракт подписывается в срок</a:t>
              </a:r>
              <a:endParaRPr lang="en-US" sz="120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A905E8F5-E93A-4F87-A148-FB2186D19EBC}"/>
                </a:ext>
              </a:extLst>
            </p:cNvPr>
            <p:cNvSpPr/>
            <p:nvPr/>
          </p:nvSpPr>
          <p:spPr>
            <a:xfrm>
              <a:off x="320040" y="2779776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Модель внедряется с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ограничениями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без переобучения</a:t>
              </a:r>
              <a:endParaRPr lang="en-US" sz="1200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950797B6-2FDC-4E4A-A686-FFD6B9766546}"/>
                </a:ext>
              </a:extLst>
            </p:cNvPr>
            <p:cNvSpPr/>
            <p:nvPr/>
          </p:nvSpPr>
          <p:spPr>
            <a:xfrm>
              <a:off x="320040" y="3218688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ROC-AUC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сохраняется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&gt;= 0.82 после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удаления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прокси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35" name="Text 11">
              <a:extLst>
                <a:ext uri="{FF2B5EF4-FFF2-40B4-BE49-F238E27FC236}">
                  <a16:creationId xmlns:a16="http://schemas.microsoft.com/office/drawing/2014/main" id="{B9C5C891-0741-4AA4-B6FC-98514AD251F8}"/>
                </a:ext>
              </a:extLst>
            </p:cNvPr>
            <p:cNvSpPr/>
            <p:nvPr/>
          </p:nvSpPr>
          <p:spPr>
            <a:xfrm>
              <a:off x="320040" y="3657600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Репутационные риски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купированы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документально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6A75CA1B-6E73-402C-9B0E-63CEC01FC856}"/>
                </a:ext>
              </a:extLst>
            </p:cNvPr>
            <p:cNvSpPr/>
            <p:nvPr/>
          </p:nvSpPr>
          <p:spPr>
            <a:xfrm>
              <a:off x="320040" y="4096512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Переобучение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- через 6 мес., в рамках договора на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поддержку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F3845D2B-0788-45EB-8BDC-43719348F565}"/>
                </a:ext>
              </a:extLst>
            </p:cNvPr>
            <p:cNvSpPr/>
            <p:nvPr/>
          </p:nvSpPr>
          <p:spPr>
            <a:xfrm>
              <a:off x="3136392" y="914400"/>
              <a:ext cx="2743200" cy="4572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Ирина (HR-директор)</a:t>
              </a:r>
              <a:endParaRPr lang="en-US" dirty="0"/>
            </a:p>
          </p:txBody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F0C95DEE-92FB-4547-A559-DB1BF2CCA0A8}"/>
                </a:ext>
              </a:extLst>
            </p:cNvPr>
            <p:cNvSpPr/>
            <p:nvPr/>
          </p:nvSpPr>
          <p:spPr>
            <a:xfrm>
              <a:off x="3136392" y="1389888"/>
              <a:ext cx="2743200" cy="566928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17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7344E851-B99E-4785-B989-FF9AC77D1233}"/>
                </a:ext>
              </a:extLst>
            </p:cNvPr>
            <p:cNvSpPr/>
            <p:nvPr/>
          </p:nvSpPr>
          <p:spPr>
            <a:xfrm>
              <a:off x="3209544" y="1426464"/>
              <a:ext cx="2606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Нет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дискриминации, </a:t>
              </a:r>
              <a:endParaRPr lang="ru-RU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нет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скандала как у Amazon 2018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0" name="Shape 17">
              <a:extLst>
                <a:ext uri="{FF2B5EF4-FFF2-40B4-BE49-F238E27FC236}">
                  <a16:creationId xmlns:a16="http://schemas.microsoft.com/office/drawing/2014/main" id="{EA0591F5-7DD4-486D-A2D3-6E6A6D7DE726}"/>
                </a:ext>
              </a:extLst>
            </p:cNvPr>
            <p:cNvSpPr/>
            <p:nvPr/>
          </p:nvSpPr>
          <p:spPr>
            <a:xfrm>
              <a:off x="3136392" y="1984248"/>
              <a:ext cx="2743200" cy="2788920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CA852C66-9C18-44CE-96F6-F700BFCA81FA}"/>
                </a:ext>
              </a:extLst>
            </p:cNvPr>
            <p:cNvSpPr/>
            <p:nvPr/>
          </p:nvSpPr>
          <p:spPr>
            <a:xfrm>
              <a:off x="3227832" y="204825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 err="1">
                  <a:solidFill>
                    <a:srgbClr val="2C5F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Получает</a:t>
              </a:r>
              <a:r>
                <a:rPr lang="en-US" sz="1600" b="1" dirty="0">
                  <a:solidFill>
                    <a:srgbClr val="2C5F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endParaRPr lang="en-US" sz="1600" dirty="0"/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D5B1E2E3-1CBA-47C7-BD36-FDA0DBA70BE7}"/>
                </a:ext>
              </a:extLst>
            </p:cNvPr>
            <p:cNvSpPr/>
            <p:nvPr/>
          </p:nvSpPr>
          <p:spPr>
            <a:xfrm>
              <a:off x="3227832" y="2779776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Квота 20% для кандидатов 45+ при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формировании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shortlist</a:t>
              </a:r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C8B2018A-E340-45F5-8626-E2689517E836}"/>
                </a:ext>
              </a:extLst>
            </p:cNvPr>
            <p:cNvSpPr/>
            <p:nvPr/>
          </p:nvSpPr>
          <p:spPr>
            <a:xfrm>
              <a:off x="3227832" y="3218688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Процедура апелляции: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право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на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объяснение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52" name="Text 22">
              <a:extLst>
                <a:ext uri="{FF2B5EF4-FFF2-40B4-BE49-F238E27FC236}">
                  <a16:creationId xmlns:a16="http://schemas.microsoft.com/office/drawing/2014/main" id="{94279295-33C4-46D3-931D-848E846BA7BD}"/>
                </a:ext>
              </a:extLst>
            </p:cNvPr>
            <p:cNvSpPr/>
            <p:nvPr/>
          </p:nvSpPr>
          <p:spPr>
            <a:xfrm>
              <a:off x="3227832" y="3657600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Человек в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контуре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- HR не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заменяется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алгоритмом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16E6F619-0FCD-4BD8-ADB0-116D9603BB70}"/>
                </a:ext>
              </a:extLst>
            </p:cNvPr>
            <p:cNvSpPr/>
            <p:nvPr/>
          </p:nvSpPr>
          <p:spPr>
            <a:xfrm>
              <a:off x="3227832" y="4096512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Ежеквартальный аудит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метрик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справедливости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68" name="Shape 24">
              <a:extLst>
                <a:ext uri="{FF2B5EF4-FFF2-40B4-BE49-F238E27FC236}">
                  <a16:creationId xmlns:a16="http://schemas.microsoft.com/office/drawing/2014/main" id="{CADDB568-2472-40FB-A910-B4A08ECF0A57}"/>
                </a:ext>
              </a:extLst>
            </p:cNvPr>
            <p:cNvSpPr/>
            <p:nvPr/>
          </p:nvSpPr>
          <p:spPr>
            <a:xfrm>
              <a:off x="6044184" y="914400"/>
              <a:ext cx="2743200" cy="457200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12700">
              <a:solidFill>
                <a:srgbClr val="2D4A2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b="1" dirty="0" err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Пётр</a:t>
              </a:r>
              <a:r>
                <a:rPr lang="en-US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(</a:t>
              </a:r>
              <a:r>
                <a:rPr lang="en-US" b="1" dirty="0" err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юрист</a:t>
              </a:r>
              <a:r>
                <a:rPr lang="en-US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69" name="Shape 26">
              <a:extLst>
                <a:ext uri="{FF2B5EF4-FFF2-40B4-BE49-F238E27FC236}">
                  <a16:creationId xmlns:a16="http://schemas.microsoft.com/office/drawing/2014/main" id="{5B3D2D96-6944-4AE4-A410-DC699D4A6AC9}"/>
                </a:ext>
              </a:extLst>
            </p:cNvPr>
            <p:cNvSpPr/>
            <p:nvPr/>
          </p:nvSpPr>
          <p:spPr>
            <a:xfrm>
              <a:off x="6044184" y="1389888"/>
              <a:ext cx="2743200" cy="566928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17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" name="Text 27">
              <a:extLst>
                <a:ext uri="{FF2B5EF4-FFF2-40B4-BE49-F238E27FC236}">
                  <a16:creationId xmlns:a16="http://schemas.microsoft.com/office/drawing/2014/main" id="{799DDC75-60B0-4664-8D65-D821D81783BF}"/>
                </a:ext>
              </a:extLst>
            </p:cNvPr>
            <p:cNvSpPr/>
            <p:nvPr/>
          </p:nvSpPr>
          <p:spPr>
            <a:xfrm>
              <a:off x="6117336" y="1426464"/>
              <a:ext cx="2606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Защита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от исков. </a:t>
              </a:r>
              <a:endParaRPr lang="ru-RU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600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Соответствие</a:t>
              </a:r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ТК РФ и 152-ФЗ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1" name="Shape 28">
              <a:extLst>
                <a:ext uri="{FF2B5EF4-FFF2-40B4-BE49-F238E27FC236}">
                  <a16:creationId xmlns:a16="http://schemas.microsoft.com/office/drawing/2014/main" id="{7D6D2940-47A0-4032-8BD4-381CCFD0C3E7}"/>
                </a:ext>
              </a:extLst>
            </p:cNvPr>
            <p:cNvSpPr/>
            <p:nvPr/>
          </p:nvSpPr>
          <p:spPr>
            <a:xfrm>
              <a:off x="6044184" y="1984248"/>
              <a:ext cx="2743200" cy="2788920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72" name="Text 29">
              <a:extLst>
                <a:ext uri="{FF2B5EF4-FFF2-40B4-BE49-F238E27FC236}">
                  <a16:creationId xmlns:a16="http://schemas.microsoft.com/office/drawing/2014/main" id="{DE830C35-7872-4C4E-925A-7BF3891DA581}"/>
                </a:ext>
              </a:extLst>
            </p:cNvPr>
            <p:cNvSpPr/>
            <p:nvPr/>
          </p:nvSpPr>
          <p:spPr>
            <a:xfrm>
              <a:off x="6135624" y="204825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 err="1">
                  <a:solidFill>
                    <a:srgbClr val="2D4A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Получает</a:t>
              </a:r>
              <a:r>
                <a:rPr lang="en-US" sz="1600" b="1" dirty="0">
                  <a:solidFill>
                    <a:srgbClr val="2D4A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endParaRPr lang="en-US" sz="1600" dirty="0"/>
            </a:p>
          </p:txBody>
        </p:sp>
        <p:sp>
          <p:nvSpPr>
            <p:cNvPr id="73" name="Text 30">
              <a:extLst>
                <a:ext uri="{FF2B5EF4-FFF2-40B4-BE49-F238E27FC236}">
                  <a16:creationId xmlns:a16="http://schemas.microsoft.com/office/drawing/2014/main" id="{290AAD79-ADE9-4858-9F2F-32F171379774}"/>
                </a:ext>
              </a:extLst>
            </p:cNvPr>
            <p:cNvSpPr/>
            <p:nvPr/>
          </p:nvSpPr>
          <p:spPr>
            <a:xfrm>
              <a:off x="6135624" y="2340864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Договорное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разграничение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ответственности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74" name="Text 31">
              <a:extLst>
                <a:ext uri="{FF2B5EF4-FFF2-40B4-BE49-F238E27FC236}">
                  <a16:creationId xmlns:a16="http://schemas.microsoft.com/office/drawing/2014/main" id="{497C8157-EE7F-4904-A5BA-84739AFFA0DA}"/>
                </a:ext>
              </a:extLst>
            </p:cNvPr>
            <p:cNvSpPr/>
            <p:nvPr/>
          </p:nvSpPr>
          <p:spPr>
            <a:xfrm>
              <a:off x="6135624" y="2779776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Этический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паспорт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- документированные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известные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ограничения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  <p:sp>
          <p:nvSpPr>
            <p:cNvPr id="75" name="Text 32">
              <a:extLst>
                <a:ext uri="{FF2B5EF4-FFF2-40B4-BE49-F238E27FC236}">
                  <a16:creationId xmlns:a16="http://schemas.microsoft.com/office/drawing/2014/main" id="{D56BB635-19AE-446F-8359-5919C2280CE9}"/>
                </a:ext>
              </a:extLst>
            </p:cNvPr>
            <p:cNvSpPr/>
            <p:nvPr/>
          </p:nvSpPr>
          <p:spPr>
            <a:xfrm>
              <a:off x="6135624" y="3218688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Соглашение об обработке ПДн (152-ФЗ)</a:t>
              </a:r>
            </a:p>
          </p:txBody>
        </p:sp>
        <p:sp>
          <p:nvSpPr>
            <p:cNvPr id="76" name="Text 33">
              <a:extLst>
                <a:ext uri="{FF2B5EF4-FFF2-40B4-BE49-F238E27FC236}">
                  <a16:creationId xmlns:a16="http://schemas.microsoft.com/office/drawing/2014/main" id="{8E7E2004-791E-4F06-AC1B-1B3E8FCCA0C9}"/>
                </a:ext>
              </a:extLst>
            </p:cNvPr>
            <p:cNvSpPr/>
            <p:nvPr/>
          </p:nvSpPr>
          <p:spPr>
            <a:xfrm>
              <a:off x="6135624" y="3657600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Процедура апелляции выполняет ст. 22.1 152-ФЗ</a:t>
              </a:r>
            </a:p>
          </p:txBody>
        </p:sp>
        <p:sp>
          <p:nvSpPr>
            <p:cNvPr id="77" name="Text 34">
              <a:extLst>
                <a:ext uri="{FF2B5EF4-FFF2-40B4-BE49-F238E27FC236}">
                  <a16:creationId xmlns:a16="http://schemas.microsoft.com/office/drawing/2014/main" id="{2126FE1C-357E-43E8-B0A1-77E378BFAB4A}"/>
                </a:ext>
              </a:extLst>
            </p:cNvPr>
            <p:cNvSpPr/>
            <p:nvPr/>
          </p:nvSpPr>
          <p:spPr>
            <a:xfrm>
              <a:off x="6135624" y="4096512"/>
              <a:ext cx="257860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• Аудит снижает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регуляторные</a:t>
              </a:r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риски</a:t>
              </a:r>
              <a:endPara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endParaRPr>
            </a:p>
          </p:txBody>
        </p:sp>
      </p:grpSp>
      <p:sp>
        <p:nvSpPr>
          <p:cNvPr id="80" name="Text 20">
            <a:extLst>
              <a:ext uri="{FF2B5EF4-FFF2-40B4-BE49-F238E27FC236}">
                <a16:creationId xmlns:a16="http://schemas.microsoft.com/office/drawing/2014/main" id="{E03423AB-0131-43D2-BF72-5A7E7AD895D7}"/>
              </a:ext>
            </a:extLst>
          </p:cNvPr>
          <p:cNvSpPr/>
          <p:nvPr/>
        </p:nvSpPr>
        <p:spPr>
          <a:xfrm>
            <a:off x="4343465" y="2989989"/>
            <a:ext cx="3527026" cy="585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Прокси-переменные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немедленно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641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03482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Дальнейшие действия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417BE587-180A-4606-90BD-4A85B0635D71}"/>
              </a:ext>
            </a:extLst>
          </p:cNvPr>
          <p:cNvGrpSpPr/>
          <p:nvPr/>
        </p:nvGrpSpPr>
        <p:grpSpPr>
          <a:xfrm>
            <a:off x="208547" y="1371599"/>
            <a:ext cx="11630527" cy="4660036"/>
            <a:chOff x="411480" y="1371600"/>
            <a:chExt cx="8412480" cy="3310128"/>
          </a:xfrm>
        </p:grpSpPr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45F5587A-6F62-42BD-81E0-D51DA0ECBAD7}"/>
                </a:ext>
              </a:extLst>
            </p:cNvPr>
            <p:cNvSpPr/>
            <p:nvPr/>
          </p:nvSpPr>
          <p:spPr>
            <a:xfrm>
              <a:off x="411480" y="1371600"/>
              <a:ext cx="516801" cy="502920"/>
            </a:xfrm>
            <a:prstGeom prst="rect">
              <a:avLst/>
            </a:prstGeom>
            <a:gradFill>
              <a:gsLst>
                <a:gs pos="0">
                  <a:schemeClr val="bg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tx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800" dirty="0"/>
                <a:t>1</a:t>
              </a: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8CC54939-7BFC-4D2C-84D7-0E96A34155B3}"/>
                </a:ext>
              </a:extLst>
            </p:cNvPr>
            <p:cNvSpPr/>
            <p:nvPr/>
          </p:nvSpPr>
          <p:spPr>
            <a:xfrm>
              <a:off x="1051560" y="1444752"/>
              <a:ext cx="77724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Сегодня: согласовать </a:t>
              </a:r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удаление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прокси-переменных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8" name="Text 7">
              <a:extLst>
                <a:ext uri="{FF2B5EF4-FFF2-40B4-BE49-F238E27FC236}">
                  <a16:creationId xmlns:a16="http://schemas.microsoft.com/office/drawing/2014/main" id="{2759BB50-3D95-4802-A02D-8EF58B808AE2}"/>
                </a:ext>
              </a:extLst>
            </p:cNvPr>
            <p:cNvSpPr/>
            <p:nvPr/>
          </p:nvSpPr>
          <p:spPr>
            <a:xfrm>
              <a:off x="1051560" y="2157984"/>
              <a:ext cx="77724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 конца недели: передать черновик договора + Этического паспорта </a:t>
              </a:r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юристам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ru-RU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«</a:t>
              </a:r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МаркетПлюса</a:t>
              </a:r>
              <a:r>
                <a:rPr lang="ru-RU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»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0" name="Text 10">
              <a:extLst>
                <a:ext uri="{FF2B5EF4-FFF2-40B4-BE49-F238E27FC236}">
                  <a16:creationId xmlns:a16="http://schemas.microsoft.com/office/drawing/2014/main" id="{8E2AC713-1FEC-4EE1-9DE2-35E11AFAC3CF}"/>
                </a:ext>
              </a:extLst>
            </p:cNvPr>
            <p:cNvSpPr/>
            <p:nvPr/>
          </p:nvSpPr>
          <p:spPr>
            <a:xfrm>
              <a:off x="1051560" y="2871216"/>
              <a:ext cx="77724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 err="1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День</a:t>
              </a: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9-12: обучение HR-команды, финализация Политики использования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A57458F6-5C21-4B78-97F3-8F585A77F7C2}"/>
                </a:ext>
              </a:extLst>
            </p:cNvPr>
            <p:cNvSpPr/>
            <p:nvPr/>
          </p:nvSpPr>
          <p:spPr>
            <a:xfrm>
              <a:off x="1051560" y="4297680"/>
              <a:ext cx="77724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Через 6 месяцев: полное переобучение на сбалансированных данных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54" name="Text 10">
            <a:extLst>
              <a:ext uri="{FF2B5EF4-FFF2-40B4-BE49-F238E27FC236}">
                <a16:creationId xmlns:a16="http://schemas.microsoft.com/office/drawing/2014/main" id="{FF6C0137-D6FE-413D-B23A-8097E73DA706}"/>
              </a:ext>
            </a:extLst>
          </p:cNvPr>
          <p:cNvSpPr/>
          <p:nvPr/>
        </p:nvSpPr>
        <p:spPr>
          <a:xfrm>
            <a:off x="1093478" y="4486871"/>
            <a:ext cx="10558104" cy="540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13-14: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подписание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контракта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A443A4DA-1EE7-4EE6-8B48-2BD14721085B}"/>
              </a:ext>
            </a:extLst>
          </p:cNvPr>
          <p:cNvSpPr/>
          <p:nvPr/>
        </p:nvSpPr>
        <p:spPr>
          <a:xfrm>
            <a:off x="208547" y="2395003"/>
            <a:ext cx="714494" cy="708017"/>
          </a:xfrm>
          <a:prstGeom prst="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pPr algn="ctr"/>
            <a:r>
              <a:rPr lang="ru-RU" sz="2800" dirty="0"/>
              <a:t>2</a:t>
            </a:r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205AFD4B-9F3F-44BD-85A1-C81C0695688B}"/>
              </a:ext>
            </a:extLst>
          </p:cNvPr>
          <p:cNvSpPr/>
          <p:nvPr/>
        </p:nvSpPr>
        <p:spPr>
          <a:xfrm>
            <a:off x="208547" y="3399100"/>
            <a:ext cx="714494" cy="708017"/>
          </a:xfrm>
          <a:prstGeom prst="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pPr algn="ctr"/>
            <a:r>
              <a:rPr lang="ru-RU" sz="2800" dirty="0"/>
              <a:t>3</a:t>
            </a:r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B3BD6CD1-9A63-40BE-8F7F-7EFDF118C962}"/>
              </a:ext>
            </a:extLst>
          </p:cNvPr>
          <p:cNvSpPr/>
          <p:nvPr/>
        </p:nvSpPr>
        <p:spPr>
          <a:xfrm>
            <a:off x="208547" y="4403195"/>
            <a:ext cx="714494" cy="708017"/>
          </a:xfrm>
          <a:prstGeom prst="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pPr algn="ctr"/>
            <a:r>
              <a:rPr lang="ru-RU" sz="2800" dirty="0"/>
              <a:t>4</a:t>
            </a: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DC447295-FAE5-48EF-A4DB-AEF26B22BDD1}"/>
              </a:ext>
            </a:extLst>
          </p:cNvPr>
          <p:cNvSpPr/>
          <p:nvPr/>
        </p:nvSpPr>
        <p:spPr>
          <a:xfrm>
            <a:off x="208547" y="5407290"/>
            <a:ext cx="714494" cy="708017"/>
          </a:xfrm>
          <a:prstGeom prst="rect">
            <a:avLst/>
          </a:prstGeom>
          <a:gradFill>
            <a:gsLst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gradFill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pPr algn="ctr"/>
            <a:r>
              <a:rPr lang="ru-RU" sz="2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69027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888</Words>
  <Application>Microsoft Office PowerPoint</Application>
  <PresentationFormat>Широкоэкранный</PresentationFormat>
  <Paragraphs>142</Paragraphs>
  <Slides>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Georgia</vt:lpstr>
      <vt:lpstr>Тема Office</vt:lpstr>
      <vt:lpstr>«КадроБот 3000»</vt:lpstr>
      <vt:lpstr>Что мы обнаружили</vt:lpstr>
      <vt:lpstr>Как мы измеряем справедливость</vt:lpstr>
      <vt:lpstr>Что мы делаем прямо сейчас</vt:lpstr>
      <vt:lpstr>Юридическая защита от рисков</vt:lpstr>
      <vt:lpstr>Наше предложение</vt:lpstr>
      <vt:lpstr>Дальнейшие действия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горизонта прогноза (прогноз за 2 дня до старта смены)</dc:title>
  <dc:creator>U_M1P8G</dc:creator>
  <cp:lastModifiedBy>Денис Троян</cp:lastModifiedBy>
  <cp:revision>76</cp:revision>
  <dcterms:created xsi:type="dcterms:W3CDTF">2026-05-18T17:32:58Z</dcterms:created>
  <dcterms:modified xsi:type="dcterms:W3CDTF">2026-05-26T14:01:43Z</dcterms:modified>
</cp:coreProperties>
</file>