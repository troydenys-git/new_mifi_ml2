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40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182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5081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1075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5061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629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8040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531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024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3876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9683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6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6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4194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8666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6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6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469640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2143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4001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88297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361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5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rgbClr val="002060"/>
            </a:gs>
            <a:gs pos="74000">
              <a:srgbClr val="0070C0"/>
            </a:gs>
            <a:gs pos="83000">
              <a:srgbClr val="00B0F0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КадроБот 3000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Этический аудит и стратегия ответственного внедрения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651760"/>
            <a:ext cx="5029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Алексея (CEO) | Ирины (HR</a:t>
            </a:r>
            <a:r>
              <a:rPr lang="ru-RU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</a:t>
            </a: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| </a:t>
            </a:r>
            <a:r>
              <a:rPr lang="en-US" sz="15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Петра</a:t>
            </a: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(юрист)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520440"/>
            <a:ext cx="1920240" cy="1188720"/>
          </a:xfrm>
          <a:prstGeom prst="rect">
            <a:avLst/>
          </a:prstGeom>
          <a:solidFill>
            <a:srgbClr val="1D3F6B"/>
          </a:solidFill>
          <a:ln w="12700">
            <a:solidFill>
              <a:srgbClr val="2C5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3584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2D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>
              <a:solidFill>
                <a:srgbClr val="92D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 проекта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87752" y="3520440"/>
            <a:ext cx="1920240" cy="1188720"/>
          </a:xfrm>
          <a:prstGeom prst="rect">
            <a:avLst/>
          </a:prstGeom>
          <a:solidFill>
            <a:srgbClr val="1D3F6B"/>
          </a:solidFill>
          <a:ln w="12700">
            <a:solidFill>
              <a:srgbClr val="2C5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587752" y="3584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2D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</a:t>
            </a:r>
            <a:endParaRPr lang="en-US" sz="3600" dirty="0">
              <a:solidFill>
                <a:srgbClr val="92D05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87752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64024" y="3520440"/>
            <a:ext cx="1920240" cy="1188720"/>
          </a:xfrm>
          <a:prstGeom prst="rect">
            <a:avLst/>
          </a:prstGeom>
          <a:solidFill>
            <a:srgbClr val="1D3F6B"/>
          </a:solidFill>
          <a:ln w="12700">
            <a:solidFill>
              <a:srgbClr val="2C5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764024" y="3584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2D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>
              <a:solidFill>
                <a:srgbClr val="92D05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64024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Ключевых рисков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0296" y="3520440"/>
            <a:ext cx="1920240" cy="1188720"/>
          </a:xfrm>
          <a:prstGeom prst="rect">
            <a:avLst/>
          </a:prstGeom>
          <a:solidFill>
            <a:srgbClr val="1D3F6B"/>
          </a:solidFill>
          <a:ln w="12700">
            <a:solidFill>
              <a:srgbClr val="2C5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940296" y="358444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2D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>
              <a:solidFill>
                <a:srgbClr val="92D05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0296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 на решение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ТехноРекрут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Группа этики и анализа рисков ИИ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мы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обнаружили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механизм дискриминации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ДИСКРИМИНАЦИЯ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" y="1498290"/>
            <a:ext cx="3749040" cy="347472"/>
          </a:xfrm>
          <a:prstGeom prst="rect">
            <a:avLst/>
          </a:prstGeom>
          <a:solidFill>
            <a:srgbClr val="EBF2FA"/>
          </a:solidFill>
          <a:ln w="12700">
            <a:solidFill>
              <a:srgbClr val="BFD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</a:t>
            </a:r>
            <a:r>
              <a:rPr lang="en-US" sz="11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45+ лет окончил вуз в 1999 году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08276" y="1928721"/>
            <a:ext cx="155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3749040" cy="347472"/>
          </a:xfrm>
          <a:prstGeom prst="rect">
            <a:avLst/>
          </a:prstGeom>
          <a:solidFill>
            <a:srgbClr val="EBF2FA"/>
          </a:solidFill>
          <a:ln w="12700">
            <a:solidFill>
              <a:srgbClr val="BFD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graduation_year</a:t>
            </a:r>
            <a:r>
              <a:rPr lang="en-US" sz="11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1999 -&gt; </a:t>
            </a:r>
            <a:r>
              <a:rPr lang="en-US" sz="1150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прокси-сигнал</a:t>
            </a:r>
            <a:r>
              <a:rPr lang="en-US" sz="11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</a:t>
            </a:r>
            <a:r>
              <a:rPr lang="en-US" sz="1150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</a:t>
            </a:r>
            <a:r>
              <a:rPr lang="en-US" sz="11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17420" y="2706624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090672"/>
            <a:ext cx="3749040" cy="347472"/>
          </a:xfrm>
          <a:prstGeom prst="rect">
            <a:avLst/>
          </a:prstGeom>
          <a:solidFill>
            <a:srgbClr val="EBF2FA"/>
          </a:solidFill>
          <a:ln w="12700">
            <a:solidFill>
              <a:srgbClr val="BFDA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КадроБот</a:t>
            </a:r>
            <a:r>
              <a:rPr lang="en-US" sz="11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снижает score (не зная возраста)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7420" y="3493008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A020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895344"/>
            <a:ext cx="3749040" cy="34747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57200" y="38953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</a:t>
            </a: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отсеян</a:t>
            </a: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несмотря на высокий true_success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716065" y="3730752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ПРОКСИ-ПЕРЕМЕННЫЕ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4114800" cy="89611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0" name="Text 18"/>
          <p:cNvSpPr/>
          <p:nvPr/>
        </p:nvSpPr>
        <p:spPr>
          <a:xfrm>
            <a:off x="4736592" y="15453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graduation_year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15453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ВЫСОКИЙ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18562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выпуска = косвенный возраст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r ≈ −0.95 с 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532888"/>
            <a:ext cx="4114800" cy="896112"/>
          </a:xfrm>
          <a:prstGeom prst="rect">
            <a:avLst/>
          </a:prstGeom>
          <a:solidFill>
            <a:srgbClr val="FEF3E2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736592" y="25694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outdated_vocab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25694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r>
              <a:rPr lang="en-US" sz="10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СРЕДНИЙ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2880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Профлексика 2000-х != низкая квалификация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Поколенческий, не качественный признак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557016"/>
            <a:ext cx="4114800" cy="896112"/>
          </a:xfrm>
          <a:prstGeom prst="rect">
            <a:avLst/>
          </a:prstGeom>
          <a:solidFill>
            <a:srgbClr val="FEF3E2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736592" y="3593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youth_hobby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3593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r>
              <a:rPr lang="en-US" sz="10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СРЕДНИЙ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39044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жных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хобби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Косвенно дискриминирует 45+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</a:t>
            </a:r>
            <a:r>
              <a:rPr lang="en-US" sz="11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возраст формально не используется, но </a:t>
            </a:r>
            <a:r>
              <a:rPr lang="en-US" sz="110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1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нашла</a:t>
            </a:r>
            <a:r>
              <a:rPr lang="en-US" sz="110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его через три прокси-признака в обучающих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мы измеряем справедливость: метрики и подходы</a:t>
            </a:r>
            <a:endParaRPr lang="en-US" sz="2400" dirty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3CB66A67-8C56-473D-B4C9-1928E1CAD898}"/>
              </a:ext>
            </a:extLst>
          </p:cNvPr>
          <p:cNvGrpSpPr/>
          <p:nvPr/>
        </p:nvGrpSpPr>
        <p:grpSpPr>
          <a:xfrm>
            <a:off x="274320" y="960120"/>
            <a:ext cx="4160520" cy="1783080"/>
            <a:chOff x="274320" y="960120"/>
            <a:chExt cx="4160520" cy="1783080"/>
          </a:xfrm>
        </p:grpSpPr>
        <p:sp>
          <p:nvSpPr>
            <p:cNvPr id="4" name="Shape 2"/>
            <p:cNvSpPr/>
            <p:nvPr/>
          </p:nvSpPr>
          <p:spPr>
            <a:xfrm>
              <a:off x="274320" y="960120"/>
              <a:ext cx="4160520" cy="1783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C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ru-RU"/>
            </a:p>
          </p:txBody>
        </p:sp>
        <p:sp>
          <p:nvSpPr>
            <p:cNvPr id="5" name="Shape 3"/>
            <p:cNvSpPr/>
            <p:nvPr/>
          </p:nvSpPr>
          <p:spPr>
            <a:xfrm>
              <a:off x="384048" y="1051560"/>
              <a:ext cx="1371600" cy="256032"/>
            </a:xfrm>
            <a:prstGeom prst="rect">
              <a:avLst/>
            </a:prstGeom>
            <a:solidFill>
              <a:srgbClr val="27AE60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Text 4"/>
            <p:cNvSpPr/>
            <p:nvPr/>
          </p:nvSpPr>
          <p:spPr>
            <a:xfrm>
              <a:off x="384048" y="105156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ОСНОВНАЯ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1480" y="1344168"/>
              <a:ext cx="38862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Равные возможности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1673352"/>
              <a:ext cx="3886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2C5F8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TPR(age&lt;45) = TPR(age&gt;=45)</a:t>
              </a:r>
              <a:endParaRPr lang="en-US" sz="10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11480" y="1965960"/>
              <a:ext cx="388620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Защищает объективно квалифицированных кандидатов 45+, не игнорируя разницу в составе групп.</a:t>
              </a:r>
              <a:endParaRPr lang="en-US" sz="10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18888" y="1051560"/>
            <a:ext cx="1371600" cy="25603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34416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Демографический паритет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733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P(decision=1|age&lt;45) ≈ P(decision=1|age&gt;=45)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Выявляет масштаб проблемы. Допустимое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отклонение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&lt;= 10-15 п.п.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84048" y="2971800"/>
            <a:ext cx="137160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84048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ДОПОЛНИТЕЛЬНАЯ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26440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Равная точность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5935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P(success|score=s, age&lt;45) = P(success|score=s, age&gt;=45)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числовой оценки для каждого кандидата.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818888" y="2971800"/>
            <a:ext cx="1371600" cy="256032"/>
          </a:xfrm>
          <a:prstGeom prst="rect">
            <a:avLst/>
          </a:prstGeom>
          <a:solidFill>
            <a:srgbClr val="7B3F9B"/>
          </a:solidFill>
          <a:ln w="12700">
            <a:solidFill>
              <a:srgbClr val="7B3F9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818888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МЕРА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264408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Неосведомлённость (FTA)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5935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5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Удалить: graduation_year, outdated_vocab, youth_hobby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8862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Устраняет явные каналы дискриминации. Снижает ROC-AUC 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приблизительно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п.п. - приемлемая цена.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r>
              <a:rPr lang="en-US" sz="10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равные</a:t>
            </a:r>
            <a:r>
              <a:rPr lang="en-US" sz="10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r>
              <a:rPr lang="en-US" sz="10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000" dirty="0" err="1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демографический</a:t>
            </a:r>
            <a:r>
              <a:rPr lang="en-US" sz="10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паритет</a:t>
            </a:r>
            <a:r>
              <a:rPr lang="en-US" sz="100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могут выполняться одновременно (теорема Chouldechova) - выбран подход, защищающий квалифицированных кандидатов.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делаем прямо сейчас: 14-дневный план без переобучения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0329" y="11430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33756" y="1417320"/>
            <a:ext cx="36576" cy="5029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10698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1-2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069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Удаление прокси-переменных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987552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Исключить graduation_year, outdated_vocab, youth_hobby из входных данных модели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Провести тест: пересчитать scores без этих признаков, измерить падение ROC-AUC (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ожидается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&lt;=3 п.п.)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Задокументировать изменение в технической документации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1682496"/>
            <a:ext cx="8321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19038" y="1942542"/>
            <a:ext cx="256032" cy="256032"/>
          </a:xfrm>
          <a:prstGeom prst="ellipse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33756" y="2212848"/>
            <a:ext cx="36576" cy="5029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94360" y="18653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1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3-5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1865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Калибровка и валидация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Рассчитать метрики справедливости (TPR gap, демографический паритет) на тестовой выборке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Сравнить true_success между возрастными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группами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подтвердить отсутствие реальных различий в успешности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Составить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ru-R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ru-R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метрикам для Этического паспорта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478024"/>
            <a:ext cx="8321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228600" y="2738070"/>
            <a:ext cx="256032" cy="256032"/>
          </a:xfrm>
          <a:prstGeom prst="ellipse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33756" y="3008376"/>
            <a:ext cx="36576" cy="5029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94360" y="26609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6-8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2660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Процедурные меры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57860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Внедрить логику квоты 45+ в интерфейс системы (предупреждение HR при формировании shortlist)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Настроить модуль апелляций: форма обратной связи + реестр апелляций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Подготовить инструкцию для HR-специалистов (на базе Политики использования)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273552"/>
            <a:ext cx="8321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228600" y="3525570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333756" y="3803904"/>
            <a:ext cx="36576" cy="5029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94360" y="34564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9-12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6596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Документы и согласование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Финализировать Этический паспорт и Политику использования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Согласовать договор о передаче ПДн между ТехноРекрутом и МаркетПлюсом (152-ФЗ)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Провести 4-часовой обучающий семинар для HR-команды МаркетПлюса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4069080"/>
            <a:ext cx="832104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228600" y="4329126"/>
            <a:ext cx="256032" cy="25603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94360" y="4251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13-14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659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Финальная презентация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16966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Демонстрация исправленной системы с новыми метриками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Подписание контракта и Этического паспорта как приложения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Утвердить дату первого квартального аудита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Юридические гарантии и защита от исков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937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НОРМАМ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143000" cy="502920"/>
          </a:xfrm>
          <a:prstGeom prst="rect">
            <a:avLst/>
          </a:prstGeom>
          <a:solidFill>
            <a:srgbClr val="E8F5E8"/>
          </a:solidFill>
          <a:ln w="12700">
            <a:solidFill>
              <a:srgbClr val="2D4A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3 ТК РФ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72768" y="145389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Прокси-переменные удалены. Возраст не является явным или косвенным основанием решения.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1143000" cy="502920"/>
          </a:xfrm>
          <a:prstGeom prst="rect">
            <a:avLst/>
          </a:prstGeom>
          <a:solidFill>
            <a:srgbClr val="E8F5E8"/>
          </a:solidFill>
          <a:ln w="12700">
            <a:solidFill>
              <a:srgbClr val="2D4A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65760" y="2048256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64 ТК РФ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72768" y="208483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Процедура апелляции даёт кандидатам право на пересмотр решения человеком.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1143000" cy="502920"/>
          </a:xfrm>
          <a:prstGeom prst="rect">
            <a:avLst/>
          </a:prstGeom>
          <a:solidFill>
            <a:srgbClr val="E8F5E8"/>
          </a:solidFill>
          <a:ln w="12700">
            <a:solidFill>
              <a:srgbClr val="2D4A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65760" y="2679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152-ФЗ, ст. 22.1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72768" y="271576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ПДн обрабатываются только в объёме, необходимом для скрининга. Согласие получено.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1143000" cy="502920"/>
          </a:xfrm>
          <a:prstGeom prst="rect">
            <a:avLst/>
          </a:prstGeom>
          <a:solidFill>
            <a:srgbClr val="E8F5E8"/>
          </a:solidFill>
          <a:ln w="12700">
            <a:solidFill>
              <a:srgbClr val="2D4A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65760" y="3310128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ст. 22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334670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 не быть субъектом автоматизированного решения реализовано через процедуру апелляции.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41064"/>
            <a:ext cx="1143000" cy="502920"/>
          </a:xfrm>
          <a:prstGeom prst="rect">
            <a:avLst/>
          </a:prstGeom>
          <a:solidFill>
            <a:srgbClr val="E8F5E8"/>
          </a:solidFill>
          <a:ln w="12700">
            <a:solidFill>
              <a:srgbClr val="2D4A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65760" y="3941064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ст. 5(1)(a)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72768" y="397764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 уведомлены об использовании ИИ при отборе (принцип прозрачности).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960120"/>
            <a:ext cx="34747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39496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ДОГОВОРНАЯ ЗАЩИТА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463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70448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Лицензионный договор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70448" y="17190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Чёткое разграничение ответственности: ТехноРекрут отвечает за работоспособность модели,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МаркетПлюс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за соблюдение Политики использования.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2240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70448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ответственности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70448" y="24963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договора: ТехноРекрут не несёт ответственности за решения, принятые клиентом в нарушение Политики использования.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30175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870448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Соглашение об обработке ПДн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70448" y="32735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договор по ст. 6, 7 152-ФЗ. Определяет объём,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сроки обработки данных кандидатов.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0680" y="37947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70448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Этический паспорт как приложение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0448" y="40507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неотъемлемая часть договора. Фиксирует известные ограничения: снимает претензии об умолчании.</a:t>
            </a:r>
            <a:endParaRPr lang="en-US" sz="95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35A3A01-761D-0B8C-EECF-74AD11BC2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98" y="3041669"/>
            <a:ext cx="317461" cy="317461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C2DBCDE-51AC-4E49-C4DD-0B5BD48D3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4898" y="2276274"/>
            <a:ext cx="317461" cy="31746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E481DF4F-93E7-0B31-EA7C-4C870A3BE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699" y="1447331"/>
            <a:ext cx="317461" cy="317461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A4BE3B5-4444-6FDA-616D-AD01332F0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4898" y="3811979"/>
            <a:ext cx="317461" cy="3174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Наше предложение: что именно мы подписываем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743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Алексей (CEO)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2743200" cy="566928"/>
          </a:xfrm>
          <a:prstGeom prst="rect">
            <a:avLst/>
          </a:prstGeom>
          <a:solidFill>
            <a:srgbClr val="FEF3E2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01752" y="1426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Подписать</a:t>
            </a:r>
            <a:r>
              <a:rPr lang="en-US" sz="9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контракт, защитить вложения 10 </a:t>
            </a:r>
            <a:r>
              <a:rPr lang="en-US" sz="95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9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984248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2004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</a:t>
            </a: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34086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Контракт подписывается в срок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77977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Модель внедряется с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ограничениями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без переобучения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2186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ROC-AUC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сохраняется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&gt;= 0.82 после удаления прокси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6576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Репутационные риски купированы документально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09651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через 6 мес., в рамках договора на поддержку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36392" y="914400"/>
            <a:ext cx="2743200" cy="45720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136392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Ирина (HR-директор)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36392" y="1389888"/>
            <a:ext cx="2743200" cy="566928"/>
          </a:xfrm>
          <a:prstGeom prst="rect">
            <a:avLst/>
          </a:prstGeom>
          <a:solidFill>
            <a:srgbClr val="FEF3E2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209544" y="1426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r>
              <a:rPr lang="en-US" sz="9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дискриминации, нет скандала как у Amazon 2018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36392" y="1984248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227832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</a:t>
            </a: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7832" y="234086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Прокси-переменные удалены из модели немедленно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27832" y="277977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Квота 20% для кандидатов 45+ при формировании shortlist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27832" y="32186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Процедура апелляции: право на объяснение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27832" y="36576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Человек в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контуре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HR не заменяется алгоритмом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27832" y="409651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Ежеквартальный аудит метрик справедливости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4184" y="914400"/>
            <a:ext cx="2743200" cy="457200"/>
          </a:xfrm>
          <a:prstGeom prst="rect">
            <a:avLst/>
          </a:prstGeom>
          <a:solidFill>
            <a:srgbClr val="2D4A22"/>
          </a:solidFill>
          <a:ln w="12700">
            <a:solidFill>
              <a:srgbClr val="2D4A2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044184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Пётр (юрист)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44184" y="1389888"/>
            <a:ext cx="2743200" cy="566928"/>
          </a:xfrm>
          <a:prstGeom prst="rect">
            <a:avLst/>
          </a:prstGeom>
          <a:solidFill>
            <a:srgbClr val="FEF3E2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117336" y="1426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</a:t>
            </a:r>
            <a:r>
              <a:rPr lang="en-US" sz="950" dirty="0">
                <a:solidFill>
                  <a:srgbClr val="7A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исков. Соответствие ТК РФ и 152-ФЗ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44184" y="1984248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135624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</a:t>
            </a:r>
            <a:r>
              <a:rPr lang="en-US" sz="1100" b="1" dirty="0">
                <a:solidFill>
                  <a:srgbClr val="2D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234086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Договорное разграничение ответственности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35624" y="277977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Этический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документированные известные ограничения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35624" y="321868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Соглашение об обработке ПДн (152-ФЗ)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35624" y="36576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Процедура апелляции выполняет ст. 22.1 152-ФЗ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35624" y="409651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Аудит снижает регуляторные риски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подписать основной контракт + Этический паспорт + Политику как </a:t>
            </a:r>
            <a:r>
              <a:rPr lang="en-US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с планом переобучения через 6 месяцев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Следующие шаги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solidFill>
            <a:srgbClr val="1D3F6B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4447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Сегодня: согласовать удаление прокси-переменных (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- 1 день)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502920" cy="502920"/>
          </a:xfrm>
          <a:prstGeom prst="rect">
            <a:avLst/>
          </a:prstGeom>
          <a:solidFill>
            <a:srgbClr val="1D3F6B"/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1579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конца недели: передать черновик договора + Этического паспорта юристам МаркетПлюса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798064"/>
            <a:ext cx="502920" cy="502920"/>
          </a:xfrm>
          <a:prstGeom prst="rect">
            <a:avLst/>
          </a:prstGeom>
          <a:solidFill>
            <a:srgbClr val="1D3F6B"/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11480" y="2798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8712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9-12: обучение HR-команды, финализация Политики использования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511296"/>
            <a:ext cx="502920" cy="502920"/>
          </a:xfrm>
          <a:prstGeom prst="rect">
            <a:avLst/>
          </a:prstGeom>
          <a:solidFill>
            <a:srgbClr val="1D3F6B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1148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58444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13-14: финальная демонстрация и подписание контракта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4224528"/>
            <a:ext cx="502920" cy="502920"/>
          </a:xfrm>
          <a:prstGeom prst="rect">
            <a:avLst/>
          </a:prstGeom>
          <a:solidFill>
            <a:srgbClr val="1D3F6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1148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2976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6 месяцев: полное переобучение на сбалансированных данных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ТехноРекрут</a:t>
            </a:r>
            <a:r>
              <a:rPr lang="en-US" sz="9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dirty="0" err="1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9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этики и анализа рисков ИИ  |  </a:t>
            </a:r>
            <a:r>
              <a:rPr lang="en-US" sz="950" dirty="0" err="1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Риск-ориентированный</a:t>
            </a:r>
            <a:r>
              <a:rPr lang="en-US" sz="9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подход к ИИ не барьер для бизнеса, а </a:t>
            </a:r>
            <a:r>
              <a:rPr lang="en-US" sz="950" dirty="0" err="1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</a:t>
            </a:r>
            <a:r>
              <a:rPr lang="en-US" sz="9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133</TotalTime>
  <Words>965</Words>
  <Application>Microsoft Office PowerPoint</Application>
  <PresentationFormat>Экран (16:9)</PresentationFormat>
  <Paragraphs>145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Century Gothic</vt:lpstr>
      <vt:lpstr>Consolas</vt:lpstr>
      <vt:lpstr>Georgia</vt:lpstr>
      <vt:lpstr>Wingdings 3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КадроБот 3000: Этический аудит и план снижения рисков</dc:title>
  <dc:subject>PptxGenJS Presentation</dc:subject>
  <dc:creator>edward</dc:creator>
  <cp:lastModifiedBy>Денис Троян</cp:lastModifiedBy>
  <cp:revision>6</cp:revision>
  <dcterms:created xsi:type="dcterms:W3CDTF">2026-05-10T00:04:41Z</dcterms:created>
  <dcterms:modified xsi:type="dcterms:W3CDTF">2026-05-26T12:44:29Z</dcterms:modified>
</cp:coreProperties>
</file>